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0"/>
  </p:notesMasterIdLst>
  <p:sldIdLst>
    <p:sldId id="256" r:id="rId2"/>
    <p:sldId id="257" r:id="rId3"/>
    <p:sldId id="272" r:id="rId4"/>
    <p:sldId id="274" r:id="rId5"/>
    <p:sldId id="258" r:id="rId6"/>
    <p:sldId id="259" r:id="rId7"/>
    <p:sldId id="260" r:id="rId8"/>
    <p:sldId id="261" r:id="rId9"/>
    <p:sldId id="262" r:id="rId10"/>
    <p:sldId id="263" r:id="rId11"/>
    <p:sldId id="264" r:id="rId12"/>
    <p:sldId id="265" r:id="rId13"/>
    <p:sldId id="266" r:id="rId14"/>
    <p:sldId id="273" r:id="rId15"/>
    <p:sldId id="268" r:id="rId16"/>
    <p:sldId id="269" r:id="rId17"/>
    <p:sldId id="270" r:id="rId18"/>
    <p:sldId id="271" r:id="rId19"/>
  </p:sldIdLst>
  <p:sldSz cx="12192000" cy="6858000"/>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Destaqu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E362C8-CD46-403B-9677-5E74D5A005F8}" type="datetimeFigureOut">
              <a:rPr lang="pt-PT" smtClean="0"/>
              <a:t>31/08/2020</a:t>
            </a:fld>
            <a:endParaRPr lang="pt-PT"/>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PT"/>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C385B8-2EF6-44D7-B61D-24430B3BFE28}" type="slidenum">
              <a:rPr lang="pt-PT" smtClean="0"/>
              <a:t>‹nº›</a:t>
            </a:fld>
            <a:endParaRPr lang="pt-PT"/>
          </a:p>
        </p:txBody>
      </p:sp>
    </p:spTree>
    <p:extLst>
      <p:ext uri="{BB962C8B-B14F-4D97-AF65-F5344CB8AC3E}">
        <p14:creationId xmlns:p14="http://schemas.microsoft.com/office/powerpoint/2010/main" val="760944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o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D9A1E2-C884-45F5-AA1F-C6F17DF8FEBD}"/>
              </a:ext>
            </a:extLst>
          </p:cNvPr>
          <p:cNvSpPr>
            <a:spLocks noGrp="1"/>
          </p:cNvSpPr>
          <p:nvPr>
            <p:ph type="ctrTitle"/>
          </p:nvPr>
        </p:nvSpPr>
        <p:spPr>
          <a:xfrm>
            <a:off x="1524000" y="1122363"/>
            <a:ext cx="9144000" cy="2387600"/>
          </a:xfrm>
        </p:spPr>
        <p:txBody>
          <a:bodyPr anchor="b"/>
          <a:lstStyle>
            <a:lvl1pPr algn="ctr">
              <a:defRPr sz="6000"/>
            </a:lvl1pPr>
          </a:lstStyle>
          <a:p>
            <a:r>
              <a:rPr lang="pt-PT"/>
              <a:t>Clique para editar o estilo de título do Modelo Global</a:t>
            </a:r>
          </a:p>
        </p:txBody>
      </p:sp>
      <p:sp>
        <p:nvSpPr>
          <p:cNvPr id="3" name="Subtítulo 2">
            <a:extLst>
              <a:ext uri="{FF2B5EF4-FFF2-40B4-BE49-F238E27FC236}">
                <a16:creationId xmlns:a16="http://schemas.microsoft.com/office/drawing/2014/main" id="{B0932CA1-7CBB-44D2-A2F3-AAB99D66A8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PT"/>
              <a:t>Clique para editar o estilo de subtítulo do Modelo Global</a:t>
            </a:r>
          </a:p>
        </p:txBody>
      </p:sp>
      <p:sp>
        <p:nvSpPr>
          <p:cNvPr id="4" name="Marcador de Posição da Data 3">
            <a:extLst>
              <a:ext uri="{FF2B5EF4-FFF2-40B4-BE49-F238E27FC236}">
                <a16:creationId xmlns:a16="http://schemas.microsoft.com/office/drawing/2014/main" id="{6B0DCE76-94D0-442A-A304-5701CAE1C6B7}"/>
              </a:ext>
            </a:extLst>
          </p:cNvPr>
          <p:cNvSpPr>
            <a:spLocks noGrp="1"/>
          </p:cNvSpPr>
          <p:nvPr>
            <p:ph type="dt" sz="half" idx="10"/>
          </p:nvPr>
        </p:nvSpPr>
        <p:spPr/>
        <p:txBody>
          <a:bodyPr/>
          <a:lstStyle/>
          <a:p>
            <a:fld id="{AD73CDB0-897C-4194-82BD-63B0380C3F33}" type="datetime1">
              <a:rPr lang="pt-PT" smtClean="0"/>
              <a:t>31/08/2020</a:t>
            </a:fld>
            <a:endParaRPr lang="pt-PT"/>
          </a:p>
        </p:txBody>
      </p:sp>
      <p:sp>
        <p:nvSpPr>
          <p:cNvPr id="5" name="Marcador de Posição do Rodapé 4">
            <a:extLst>
              <a:ext uri="{FF2B5EF4-FFF2-40B4-BE49-F238E27FC236}">
                <a16:creationId xmlns:a16="http://schemas.microsoft.com/office/drawing/2014/main" id="{68A67CD7-5039-4381-998A-F934447372B5}"/>
              </a:ext>
            </a:extLst>
          </p:cNvPr>
          <p:cNvSpPr>
            <a:spLocks noGrp="1"/>
          </p:cNvSpPr>
          <p:nvPr>
            <p:ph type="ftr" sz="quarter" idx="11"/>
          </p:nvPr>
        </p:nvSpPr>
        <p:spPr/>
        <p:txBody>
          <a:bodyPr/>
          <a:lstStyle/>
          <a:p>
            <a:r>
              <a:rPr lang="pt-PT"/>
              <a:t>RE4SuSY 2020</a:t>
            </a:r>
          </a:p>
        </p:txBody>
      </p:sp>
      <p:sp>
        <p:nvSpPr>
          <p:cNvPr id="6" name="Marcador de Posição do Número do Diapositivo 5">
            <a:extLst>
              <a:ext uri="{FF2B5EF4-FFF2-40B4-BE49-F238E27FC236}">
                <a16:creationId xmlns:a16="http://schemas.microsoft.com/office/drawing/2014/main" id="{D30DEB27-7DB1-4D21-81B4-0A78CDAE538F}"/>
              </a:ext>
            </a:extLst>
          </p:cNvPr>
          <p:cNvSpPr>
            <a:spLocks noGrp="1"/>
          </p:cNvSpPr>
          <p:nvPr>
            <p:ph type="sldNum" sz="quarter" idx="12"/>
          </p:nvPr>
        </p:nvSpPr>
        <p:spPr/>
        <p:txBody>
          <a:bodyPr/>
          <a:lstStyle/>
          <a:p>
            <a:fld id="{36C2C8C4-90B5-4523-B1E5-1120D41CAE7D}" type="slidenum">
              <a:rPr lang="pt-PT" smtClean="0"/>
              <a:t>‹nº›</a:t>
            </a:fld>
            <a:endParaRPr lang="pt-PT"/>
          </a:p>
        </p:txBody>
      </p:sp>
    </p:spTree>
    <p:extLst>
      <p:ext uri="{BB962C8B-B14F-4D97-AF65-F5344CB8AC3E}">
        <p14:creationId xmlns:p14="http://schemas.microsoft.com/office/powerpoint/2010/main" val="4257344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Obje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ADEFE4-1A79-4BA1-8169-CCC2A87D6D2F}"/>
              </a:ext>
            </a:extLst>
          </p:cNvPr>
          <p:cNvSpPr>
            <a:spLocks noGrp="1"/>
          </p:cNvSpPr>
          <p:nvPr>
            <p:ph type="title"/>
          </p:nvPr>
        </p:nvSpPr>
        <p:spPr/>
        <p:txBody>
          <a:bodyPr/>
          <a:lstStyle/>
          <a:p>
            <a:r>
              <a:rPr lang="pt-PT"/>
              <a:t>Clique para editar o estilo de título do Modelo Global</a:t>
            </a:r>
          </a:p>
        </p:txBody>
      </p:sp>
      <p:sp>
        <p:nvSpPr>
          <p:cNvPr id="3" name="Marcador de Posição de Conteúdo 2">
            <a:extLst>
              <a:ext uri="{FF2B5EF4-FFF2-40B4-BE49-F238E27FC236}">
                <a16:creationId xmlns:a16="http://schemas.microsoft.com/office/drawing/2014/main" id="{0795EDE3-F954-4097-B47A-FDFD27FD532E}"/>
              </a:ext>
            </a:extLst>
          </p:cNvPr>
          <p:cNvSpPr>
            <a:spLocks noGrp="1"/>
          </p:cNvSpPr>
          <p:nvPr>
            <p:ph idx="1"/>
          </p:nvPr>
        </p:nvSpPr>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a Data 3">
            <a:extLst>
              <a:ext uri="{FF2B5EF4-FFF2-40B4-BE49-F238E27FC236}">
                <a16:creationId xmlns:a16="http://schemas.microsoft.com/office/drawing/2014/main" id="{397EA5A8-607F-4141-AC40-62F99C85AB91}"/>
              </a:ext>
            </a:extLst>
          </p:cNvPr>
          <p:cNvSpPr>
            <a:spLocks noGrp="1"/>
          </p:cNvSpPr>
          <p:nvPr>
            <p:ph type="dt" sz="half" idx="10"/>
          </p:nvPr>
        </p:nvSpPr>
        <p:spPr/>
        <p:txBody>
          <a:bodyPr/>
          <a:lstStyle/>
          <a:p>
            <a:fld id="{3C28B1C8-3459-40F0-B5CE-EDF54CCA3642}" type="datetime1">
              <a:rPr lang="pt-PT" smtClean="0"/>
              <a:t>31/08/2020</a:t>
            </a:fld>
            <a:endParaRPr lang="pt-PT"/>
          </a:p>
        </p:txBody>
      </p:sp>
      <p:sp>
        <p:nvSpPr>
          <p:cNvPr id="5" name="Marcador de Posição do Rodapé 4">
            <a:extLst>
              <a:ext uri="{FF2B5EF4-FFF2-40B4-BE49-F238E27FC236}">
                <a16:creationId xmlns:a16="http://schemas.microsoft.com/office/drawing/2014/main" id="{F2C33999-774A-48C6-A71B-56873237B48C}"/>
              </a:ext>
            </a:extLst>
          </p:cNvPr>
          <p:cNvSpPr>
            <a:spLocks noGrp="1"/>
          </p:cNvSpPr>
          <p:nvPr>
            <p:ph type="ftr" sz="quarter" idx="11"/>
          </p:nvPr>
        </p:nvSpPr>
        <p:spPr/>
        <p:txBody>
          <a:bodyPr/>
          <a:lstStyle/>
          <a:p>
            <a:r>
              <a:rPr lang="pt-PT"/>
              <a:t>RE4SuSY 2020</a:t>
            </a:r>
          </a:p>
        </p:txBody>
      </p:sp>
      <p:sp>
        <p:nvSpPr>
          <p:cNvPr id="6" name="Marcador de Posição do Número do Diapositivo 5">
            <a:extLst>
              <a:ext uri="{FF2B5EF4-FFF2-40B4-BE49-F238E27FC236}">
                <a16:creationId xmlns:a16="http://schemas.microsoft.com/office/drawing/2014/main" id="{8F270EA3-438A-4D64-9CDB-B2CC992AEC77}"/>
              </a:ext>
            </a:extLst>
          </p:cNvPr>
          <p:cNvSpPr>
            <a:spLocks noGrp="1"/>
          </p:cNvSpPr>
          <p:nvPr>
            <p:ph type="sldNum" sz="quarter" idx="12"/>
          </p:nvPr>
        </p:nvSpPr>
        <p:spPr/>
        <p:txBody>
          <a:bodyPr/>
          <a:lstStyle/>
          <a:p>
            <a:fld id="{36C2C8C4-90B5-4523-B1E5-1120D41CAE7D}" type="slidenum">
              <a:rPr lang="pt-PT" smtClean="0"/>
              <a:t>‹nº›</a:t>
            </a:fld>
            <a:endParaRPr lang="pt-PT"/>
          </a:p>
        </p:txBody>
      </p:sp>
    </p:spTree>
    <p:extLst>
      <p:ext uri="{BB962C8B-B14F-4D97-AF65-F5344CB8AC3E}">
        <p14:creationId xmlns:p14="http://schemas.microsoft.com/office/powerpoint/2010/main" val="3691864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c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0220EB-D2A9-450C-8AAC-60B57477FFF6}"/>
              </a:ext>
            </a:extLst>
          </p:cNvPr>
          <p:cNvSpPr>
            <a:spLocks noGrp="1"/>
          </p:cNvSpPr>
          <p:nvPr>
            <p:ph type="title"/>
          </p:nvPr>
        </p:nvSpPr>
        <p:spPr>
          <a:xfrm>
            <a:off x="831850" y="1709738"/>
            <a:ext cx="10515600" cy="2852737"/>
          </a:xfrm>
        </p:spPr>
        <p:txBody>
          <a:bodyPr anchor="b"/>
          <a:lstStyle>
            <a:lvl1pPr>
              <a:defRPr sz="6000"/>
            </a:lvl1pPr>
          </a:lstStyle>
          <a:p>
            <a:r>
              <a:rPr lang="pt-PT"/>
              <a:t>Clique para editar o estilo de título do Modelo Global</a:t>
            </a:r>
          </a:p>
        </p:txBody>
      </p:sp>
      <p:sp>
        <p:nvSpPr>
          <p:cNvPr id="3" name="Marcador de Posição do Texto 2">
            <a:extLst>
              <a:ext uri="{FF2B5EF4-FFF2-40B4-BE49-F238E27FC236}">
                <a16:creationId xmlns:a16="http://schemas.microsoft.com/office/drawing/2014/main" id="{6FABAC8F-9F64-4019-9BEF-611ECF3390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PT"/>
              <a:t>Clique para editar os estilos do texto de Modelo Global</a:t>
            </a:r>
          </a:p>
        </p:txBody>
      </p:sp>
      <p:sp>
        <p:nvSpPr>
          <p:cNvPr id="4" name="Marcador de Posição da Data 3">
            <a:extLst>
              <a:ext uri="{FF2B5EF4-FFF2-40B4-BE49-F238E27FC236}">
                <a16:creationId xmlns:a16="http://schemas.microsoft.com/office/drawing/2014/main" id="{2F284337-8218-4881-9C36-A84550653082}"/>
              </a:ext>
            </a:extLst>
          </p:cNvPr>
          <p:cNvSpPr>
            <a:spLocks noGrp="1"/>
          </p:cNvSpPr>
          <p:nvPr>
            <p:ph type="dt" sz="half" idx="10"/>
          </p:nvPr>
        </p:nvSpPr>
        <p:spPr/>
        <p:txBody>
          <a:bodyPr/>
          <a:lstStyle/>
          <a:p>
            <a:fld id="{B61CED1E-1128-4EFF-803A-86634F8CB211}" type="datetime1">
              <a:rPr lang="pt-PT" smtClean="0"/>
              <a:t>31/08/2020</a:t>
            </a:fld>
            <a:endParaRPr lang="pt-PT"/>
          </a:p>
        </p:txBody>
      </p:sp>
      <p:sp>
        <p:nvSpPr>
          <p:cNvPr id="5" name="Marcador de Posição do Rodapé 4">
            <a:extLst>
              <a:ext uri="{FF2B5EF4-FFF2-40B4-BE49-F238E27FC236}">
                <a16:creationId xmlns:a16="http://schemas.microsoft.com/office/drawing/2014/main" id="{3DCF3EAC-6E8C-40C1-B9D7-9A9EC2BC5DA2}"/>
              </a:ext>
            </a:extLst>
          </p:cNvPr>
          <p:cNvSpPr>
            <a:spLocks noGrp="1"/>
          </p:cNvSpPr>
          <p:nvPr>
            <p:ph type="ftr" sz="quarter" idx="11"/>
          </p:nvPr>
        </p:nvSpPr>
        <p:spPr/>
        <p:txBody>
          <a:bodyPr/>
          <a:lstStyle/>
          <a:p>
            <a:r>
              <a:rPr lang="pt-PT"/>
              <a:t>RE4SuSY 2020</a:t>
            </a:r>
          </a:p>
        </p:txBody>
      </p:sp>
      <p:sp>
        <p:nvSpPr>
          <p:cNvPr id="6" name="Marcador de Posição do Número do Diapositivo 5">
            <a:extLst>
              <a:ext uri="{FF2B5EF4-FFF2-40B4-BE49-F238E27FC236}">
                <a16:creationId xmlns:a16="http://schemas.microsoft.com/office/drawing/2014/main" id="{AFA6CFF0-F9F7-4EB2-B268-799F74FD587E}"/>
              </a:ext>
            </a:extLst>
          </p:cNvPr>
          <p:cNvSpPr>
            <a:spLocks noGrp="1"/>
          </p:cNvSpPr>
          <p:nvPr>
            <p:ph type="sldNum" sz="quarter" idx="12"/>
          </p:nvPr>
        </p:nvSpPr>
        <p:spPr/>
        <p:txBody>
          <a:bodyPr/>
          <a:lstStyle/>
          <a:p>
            <a:fld id="{36C2C8C4-90B5-4523-B1E5-1120D41CAE7D}" type="slidenum">
              <a:rPr lang="pt-PT" smtClean="0"/>
              <a:t>‹nº›</a:t>
            </a:fld>
            <a:endParaRPr lang="pt-PT"/>
          </a:p>
        </p:txBody>
      </p:sp>
    </p:spTree>
    <p:extLst>
      <p:ext uri="{BB962C8B-B14F-4D97-AF65-F5344CB8AC3E}">
        <p14:creationId xmlns:p14="http://schemas.microsoft.com/office/powerpoint/2010/main" val="4146866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údo Dup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6C91F0-87A6-4C87-9CE7-4E639F37B21D}"/>
              </a:ext>
            </a:extLst>
          </p:cNvPr>
          <p:cNvSpPr>
            <a:spLocks noGrp="1"/>
          </p:cNvSpPr>
          <p:nvPr>
            <p:ph type="title"/>
          </p:nvPr>
        </p:nvSpPr>
        <p:spPr/>
        <p:txBody>
          <a:bodyPr/>
          <a:lstStyle/>
          <a:p>
            <a:r>
              <a:rPr lang="pt-PT"/>
              <a:t>Clique para editar o estilo de título do Modelo Global</a:t>
            </a:r>
          </a:p>
        </p:txBody>
      </p:sp>
      <p:sp>
        <p:nvSpPr>
          <p:cNvPr id="3" name="Marcador de Posição de Conteúdo 2">
            <a:extLst>
              <a:ext uri="{FF2B5EF4-FFF2-40B4-BE49-F238E27FC236}">
                <a16:creationId xmlns:a16="http://schemas.microsoft.com/office/drawing/2014/main" id="{16B74830-0CEF-4F9A-A6D2-B9AC86A7289D}"/>
              </a:ext>
            </a:extLst>
          </p:cNvPr>
          <p:cNvSpPr>
            <a:spLocks noGrp="1"/>
          </p:cNvSpPr>
          <p:nvPr>
            <p:ph sz="half" idx="1"/>
          </p:nvPr>
        </p:nvSpPr>
        <p:spPr>
          <a:xfrm>
            <a:off x="838200" y="1825625"/>
            <a:ext cx="5181600" cy="435133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e Conteúdo 3">
            <a:extLst>
              <a:ext uri="{FF2B5EF4-FFF2-40B4-BE49-F238E27FC236}">
                <a16:creationId xmlns:a16="http://schemas.microsoft.com/office/drawing/2014/main" id="{D9E2ACFE-114C-4773-8109-8A88FC2CFC1E}"/>
              </a:ext>
            </a:extLst>
          </p:cNvPr>
          <p:cNvSpPr>
            <a:spLocks noGrp="1"/>
          </p:cNvSpPr>
          <p:nvPr>
            <p:ph sz="half" idx="2"/>
          </p:nvPr>
        </p:nvSpPr>
        <p:spPr>
          <a:xfrm>
            <a:off x="6172200" y="1825625"/>
            <a:ext cx="5181600" cy="435133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5" name="Marcador de Posição da Data 4">
            <a:extLst>
              <a:ext uri="{FF2B5EF4-FFF2-40B4-BE49-F238E27FC236}">
                <a16:creationId xmlns:a16="http://schemas.microsoft.com/office/drawing/2014/main" id="{F910DA29-70D2-4368-A589-7D0B0332EDF1}"/>
              </a:ext>
            </a:extLst>
          </p:cNvPr>
          <p:cNvSpPr>
            <a:spLocks noGrp="1"/>
          </p:cNvSpPr>
          <p:nvPr>
            <p:ph type="dt" sz="half" idx="10"/>
          </p:nvPr>
        </p:nvSpPr>
        <p:spPr/>
        <p:txBody>
          <a:bodyPr/>
          <a:lstStyle/>
          <a:p>
            <a:fld id="{F4A868EF-EF8D-4529-AC02-01B03769525F}" type="datetime1">
              <a:rPr lang="pt-PT" smtClean="0"/>
              <a:t>31/08/2020</a:t>
            </a:fld>
            <a:endParaRPr lang="pt-PT"/>
          </a:p>
        </p:txBody>
      </p:sp>
      <p:sp>
        <p:nvSpPr>
          <p:cNvPr id="6" name="Marcador de Posição do Rodapé 5">
            <a:extLst>
              <a:ext uri="{FF2B5EF4-FFF2-40B4-BE49-F238E27FC236}">
                <a16:creationId xmlns:a16="http://schemas.microsoft.com/office/drawing/2014/main" id="{3E50FFD3-205B-43CE-997A-CBEE0CB8DAE3}"/>
              </a:ext>
            </a:extLst>
          </p:cNvPr>
          <p:cNvSpPr>
            <a:spLocks noGrp="1"/>
          </p:cNvSpPr>
          <p:nvPr>
            <p:ph type="ftr" sz="quarter" idx="11"/>
          </p:nvPr>
        </p:nvSpPr>
        <p:spPr/>
        <p:txBody>
          <a:bodyPr/>
          <a:lstStyle/>
          <a:p>
            <a:r>
              <a:rPr lang="pt-PT"/>
              <a:t>RE4SuSY 2020</a:t>
            </a:r>
          </a:p>
        </p:txBody>
      </p:sp>
      <p:sp>
        <p:nvSpPr>
          <p:cNvPr id="7" name="Marcador de Posição do Número do Diapositivo 6">
            <a:extLst>
              <a:ext uri="{FF2B5EF4-FFF2-40B4-BE49-F238E27FC236}">
                <a16:creationId xmlns:a16="http://schemas.microsoft.com/office/drawing/2014/main" id="{A736696F-F23E-4DC1-A8FD-1DBB9E645E04}"/>
              </a:ext>
            </a:extLst>
          </p:cNvPr>
          <p:cNvSpPr>
            <a:spLocks noGrp="1"/>
          </p:cNvSpPr>
          <p:nvPr>
            <p:ph type="sldNum" sz="quarter" idx="12"/>
          </p:nvPr>
        </p:nvSpPr>
        <p:spPr/>
        <p:txBody>
          <a:bodyPr/>
          <a:lstStyle/>
          <a:p>
            <a:fld id="{36C2C8C4-90B5-4523-B1E5-1120D41CAE7D}" type="slidenum">
              <a:rPr lang="pt-PT" smtClean="0"/>
              <a:t>‹nº›</a:t>
            </a:fld>
            <a:endParaRPr lang="pt-PT"/>
          </a:p>
        </p:txBody>
      </p:sp>
    </p:spTree>
    <p:extLst>
      <p:ext uri="{BB962C8B-B14F-4D97-AF65-F5344CB8AC3E}">
        <p14:creationId xmlns:p14="http://schemas.microsoft.com/office/powerpoint/2010/main" val="3553247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02CDCD-A001-48B7-ADA2-233971AD0340}"/>
              </a:ext>
            </a:extLst>
          </p:cNvPr>
          <p:cNvSpPr>
            <a:spLocks noGrp="1"/>
          </p:cNvSpPr>
          <p:nvPr>
            <p:ph type="title"/>
          </p:nvPr>
        </p:nvSpPr>
        <p:spPr>
          <a:xfrm>
            <a:off x="839788" y="365125"/>
            <a:ext cx="10515600" cy="1325563"/>
          </a:xfrm>
        </p:spPr>
        <p:txBody>
          <a:bodyPr/>
          <a:lstStyle/>
          <a:p>
            <a:r>
              <a:rPr lang="pt-PT"/>
              <a:t>Clique para editar o estilo de título do Modelo Global</a:t>
            </a:r>
          </a:p>
        </p:txBody>
      </p:sp>
      <p:sp>
        <p:nvSpPr>
          <p:cNvPr id="3" name="Marcador de Posição do Texto 2">
            <a:extLst>
              <a:ext uri="{FF2B5EF4-FFF2-40B4-BE49-F238E27FC236}">
                <a16:creationId xmlns:a16="http://schemas.microsoft.com/office/drawing/2014/main" id="{A5B572EE-B4C1-4FB5-BC43-60F6B9BE8C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Clique para editar os estilos do texto de Modelo Global</a:t>
            </a:r>
          </a:p>
        </p:txBody>
      </p:sp>
      <p:sp>
        <p:nvSpPr>
          <p:cNvPr id="4" name="Marcador de Posição de Conteúdo 3">
            <a:extLst>
              <a:ext uri="{FF2B5EF4-FFF2-40B4-BE49-F238E27FC236}">
                <a16:creationId xmlns:a16="http://schemas.microsoft.com/office/drawing/2014/main" id="{0BE7C335-B37B-4ED1-8B7C-003EEBE63B2A}"/>
              </a:ext>
            </a:extLst>
          </p:cNvPr>
          <p:cNvSpPr>
            <a:spLocks noGrp="1"/>
          </p:cNvSpPr>
          <p:nvPr>
            <p:ph sz="half" idx="2"/>
          </p:nvPr>
        </p:nvSpPr>
        <p:spPr>
          <a:xfrm>
            <a:off x="839788" y="2505075"/>
            <a:ext cx="5157787" cy="368458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5" name="Marcador de Posição do Texto 4">
            <a:extLst>
              <a:ext uri="{FF2B5EF4-FFF2-40B4-BE49-F238E27FC236}">
                <a16:creationId xmlns:a16="http://schemas.microsoft.com/office/drawing/2014/main" id="{B8FFACA1-5CA9-4D10-B52B-4F8B18F4D3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Clique para editar os estilos do texto de Modelo Global</a:t>
            </a:r>
          </a:p>
        </p:txBody>
      </p:sp>
      <p:sp>
        <p:nvSpPr>
          <p:cNvPr id="6" name="Marcador de Posição de Conteúdo 5">
            <a:extLst>
              <a:ext uri="{FF2B5EF4-FFF2-40B4-BE49-F238E27FC236}">
                <a16:creationId xmlns:a16="http://schemas.microsoft.com/office/drawing/2014/main" id="{747EB0CA-FFEE-40DA-88DA-D0AE38CCB4A4}"/>
              </a:ext>
            </a:extLst>
          </p:cNvPr>
          <p:cNvSpPr>
            <a:spLocks noGrp="1"/>
          </p:cNvSpPr>
          <p:nvPr>
            <p:ph sz="quarter" idx="4"/>
          </p:nvPr>
        </p:nvSpPr>
        <p:spPr>
          <a:xfrm>
            <a:off x="6172200" y="2505075"/>
            <a:ext cx="5183188" cy="368458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7" name="Marcador de Posição da Data 6">
            <a:extLst>
              <a:ext uri="{FF2B5EF4-FFF2-40B4-BE49-F238E27FC236}">
                <a16:creationId xmlns:a16="http://schemas.microsoft.com/office/drawing/2014/main" id="{C8056B6F-A707-4EC2-A7AF-0F7D6C3B4F8B}"/>
              </a:ext>
            </a:extLst>
          </p:cNvPr>
          <p:cNvSpPr>
            <a:spLocks noGrp="1"/>
          </p:cNvSpPr>
          <p:nvPr>
            <p:ph type="dt" sz="half" idx="10"/>
          </p:nvPr>
        </p:nvSpPr>
        <p:spPr/>
        <p:txBody>
          <a:bodyPr/>
          <a:lstStyle/>
          <a:p>
            <a:fld id="{A7B772DE-4DF0-4637-89E3-86E7D9169622}" type="datetime1">
              <a:rPr lang="pt-PT" smtClean="0"/>
              <a:t>31/08/2020</a:t>
            </a:fld>
            <a:endParaRPr lang="pt-PT"/>
          </a:p>
        </p:txBody>
      </p:sp>
      <p:sp>
        <p:nvSpPr>
          <p:cNvPr id="8" name="Marcador de Posição do Rodapé 7">
            <a:extLst>
              <a:ext uri="{FF2B5EF4-FFF2-40B4-BE49-F238E27FC236}">
                <a16:creationId xmlns:a16="http://schemas.microsoft.com/office/drawing/2014/main" id="{375961AB-0323-4191-B56E-7ACD1E8492C1}"/>
              </a:ext>
            </a:extLst>
          </p:cNvPr>
          <p:cNvSpPr>
            <a:spLocks noGrp="1"/>
          </p:cNvSpPr>
          <p:nvPr>
            <p:ph type="ftr" sz="quarter" idx="11"/>
          </p:nvPr>
        </p:nvSpPr>
        <p:spPr/>
        <p:txBody>
          <a:bodyPr/>
          <a:lstStyle/>
          <a:p>
            <a:r>
              <a:rPr lang="pt-PT"/>
              <a:t>RE4SuSY 2020</a:t>
            </a:r>
          </a:p>
        </p:txBody>
      </p:sp>
      <p:sp>
        <p:nvSpPr>
          <p:cNvPr id="9" name="Marcador de Posição do Número do Diapositivo 8">
            <a:extLst>
              <a:ext uri="{FF2B5EF4-FFF2-40B4-BE49-F238E27FC236}">
                <a16:creationId xmlns:a16="http://schemas.microsoft.com/office/drawing/2014/main" id="{3CC80D9F-96A1-4DDA-9285-E96B0A4D11A8}"/>
              </a:ext>
            </a:extLst>
          </p:cNvPr>
          <p:cNvSpPr>
            <a:spLocks noGrp="1"/>
          </p:cNvSpPr>
          <p:nvPr>
            <p:ph type="sldNum" sz="quarter" idx="12"/>
          </p:nvPr>
        </p:nvSpPr>
        <p:spPr/>
        <p:txBody>
          <a:bodyPr/>
          <a:lstStyle/>
          <a:p>
            <a:fld id="{36C2C8C4-90B5-4523-B1E5-1120D41CAE7D}" type="slidenum">
              <a:rPr lang="pt-PT" smtClean="0"/>
              <a:t>‹nº›</a:t>
            </a:fld>
            <a:endParaRPr lang="pt-PT"/>
          </a:p>
        </p:txBody>
      </p:sp>
    </p:spTree>
    <p:extLst>
      <p:ext uri="{BB962C8B-B14F-4D97-AF65-F5344CB8AC3E}">
        <p14:creationId xmlns:p14="http://schemas.microsoft.com/office/powerpoint/2010/main" val="4191866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6CB676-C311-4A21-9C33-F8B06245D7DB}"/>
              </a:ext>
            </a:extLst>
          </p:cNvPr>
          <p:cNvSpPr>
            <a:spLocks noGrp="1"/>
          </p:cNvSpPr>
          <p:nvPr>
            <p:ph type="title"/>
          </p:nvPr>
        </p:nvSpPr>
        <p:spPr/>
        <p:txBody>
          <a:bodyPr/>
          <a:lstStyle/>
          <a:p>
            <a:r>
              <a:rPr lang="pt-PT"/>
              <a:t>Clique para editar o estilo de título do Modelo Global</a:t>
            </a:r>
          </a:p>
        </p:txBody>
      </p:sp>
      <p:sp>
        <p:nvSpPr>
          <p:cNvPr id="3" name="Marcador de Posição da Data 2">
            <a:extLst>
              <a:ext uri="{FF2B5EF4-FFF2-40B4-BE49-F238E27FC236}">
                <a16:creationId xmlns:a16="http://schemas.microsoft.com/office/drawing/2014/main" id="{35974DFD-01CB-43C1-9135-6A8EE5DE854F}"/>
              </a:ext>
            </a:extLst>
          </p:cNvPr>
          <p:cNvSpPr>
            <a:spLocks noGrp="1"/>
          </p:cNvSpPr>
          <p:nvPr>
            <p:ph type="dt" sz="half" idx="10"/>
          </p:nvPr>
        </p:nvSpPr>
        <p:spPr/>
        <p:txBody>
          <a:bodyPr/>
          <a:lstStyle/>
          <a:p>
            <a:fld id="{D14B632E-9094-4DEC-8D0D-C010CC6C46BA}" type="datetime1">
              <a:rPr lang="pt-PT" smtClean="0"/>
              <a:t>31/08/2020</a:t>
            </a:fld>
            <a:endParaRPr lang="pt-PT"/>
          </a:p>
        </p:txBody>
      </p:sp>
      <p:sp>
        <p:nvSpPr>
          <p:cNvPr id="4" name="Marcador de Posição do Rodapé 3">
            <a:extLst>
              <a:ext uri="{FF2B5EF4-FFF2-40B4-BE49-F238E27FC236}">
                <a16:creationId xmlns:a16="http://schemas.microsoft.com/office/drawing/2014/main" id="{7013F482-9CD5-45EE-A200-96BB56A53CB0}"/>
              </a:ext>
            </a:extLst>
          </p:cNvPr>
          <p:cNvSpPr>
            <a:spLocks noGrp="1"/>
          </p:cNvSpPr>
          <p:nvPr>
            <p:ph type="ftr" sz="quarter" idx="11"/>
          </p:nvPr>
        </p:nvSpPr>
        <p:spPr/>
        <p:txBody>
          <a:bodyPr/>
          <a:lstStyle/>
          <a:p>
            <a:r>
              <a:rPr lang="pt-PT"/>
              <a:t>RE4SuSY 2020</a:t>
            </a:r>
          </a:p>
        </p:txBody>
      </p:sp>
      <p:sp>
        <p:nvSpPr>
          <p:cNvPr id="5" name="Marcador de Posição do Número do Diapositivo 4">
            <a:extLst>
              <a:ext uri="{FF2B5EF4-FFF2-40B4-BE49-F238E27FC236}">
                <a16:creationId xmlns:a16="http://schemas.microsoft.com/office/drawing/2014/main" id="{4889B0B1-9B88-4B45-AB46-53D975EAA849}"/>
              </a:ext>
            </a:extLst>
          </p:cNvPr>
          <p:cNvSpPr>
            <a:spLocks noGrp="1"/>
          </p:cNvSpPr>
          <p:nvPr>
            <p:ph type="sldNum" sz="quarter" idx="12"/>
          </p:nvPr>
        </p:nvSpPr>
        <p:spPr/>
        <p:txBody>
          <a:bodyPr/>
          <a:lstStyle/>
          <a:p>
            <a:fld id="{36C2C8C4-90B5-4523-B1E5-1120D41CAE7D}" type="slidenum">
              <a:rPr lang="pt-PT" smtClean="0"/>
              <a:t>‹nº›</a:t>
            </a:fld>
            <a:endParaRPr lang="pt-PT"/>
          </a:p>
        </p:txBody>
      </p:sp>
    </p:spTree>
    <p:extLst>
      <p:ext uri="{BB962C8B-B14F-4D97-AF65-F5344CB8AC3E}">
        <p14:creationId xmlns:p14="http://schemas.microsoft.com/office/powerpoint/2010/main" val="1522184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Marcador de Posição da Data 1">
            <a:extLst>
              <a:ext uri="{FF2B5EF4-FFF2-40B4-BE49-F238E27FC236}">
                <a16:creationId xmlns:a16="http://schemas.microsoft.com/office/drawing/2014/main" id="{B70DB35D-66AA-4982-88E6-318A788F0EEA}"/>
              </a:ext>
            </a:extLst>
          </p:cNvPr>
          <p:cNvSpPr>
            <a:spLocks noGrp="1"/>
          </p:cNvSpPr>
          <p:nvPr>
            <p:ph type="dt" sz="half" idx="10"/>
          </p:nvPr>
        </p:nvSpPr>
        <p:spPr/>
        <p:txBody>
          <a:bodyPr/>
          <a:lstStyle/>
          <a:p>
            <a:fld id="{105AB124-2256-45DD-8D1E-85EC03F8C413}" type="datetime1">
              <a:rPr lang="pt-PT" smtClean="0"/>
              <a:t>31/08/2020</a:t>
            </a:fld>
            <a:endParaRPr lang="pt-PT"/>
          </a:p>
        </p:txBody>
      </p:sp>
      <p:sp>
        <p:nvSpPr>
          <p:cNvPr id="3" name="Marcador de Posição do Rodapé 2">
            <a:extLst>
              <a:ext uri="{FF2B5EF4-FFF2-40B4-BE49-F238E27FC236}">
                <a16:creationId xmlns:a16="http://schemas.microsoft.com/office/drawing/2014/main" id="{AFCE141B-1AF9-4BA2-B0F3-DAED92264533}"/>
              </a:ext>
            </a:extLst>
          </p:cNvPr>
          <p:cNvSpPr>
            <a:spLocks noGrp="1"/>
          </p:cNvSpPr>
          <p:nvPr>
            <p:ph type="ftr" sz="quarter" idx="11"/>
          </p:nvPr>
        </p:nvSpPr>
        <p:spPr/>
        <p:txBody>
          <a:bodyPr/>
          <a:lstStyle/>
          <a:p>
            <a:r>
              <a:rPr lang="pt-PT"/>
              <a:t>RE4SuSY 2020</a:t>
            </a:r>
          </a:p>
        </p:txBody>
      </p:sp>
      <p:sp>
        <p:nvSpPr>
          <p:cNvPr id="4" name="Marcador de Posição do Número do Diapositivo 3">
            <a:extLst>
              <a:ext uri="{FF2B5EF4-FFF2-40B4-BE49-F238E27FC236}">
                <a16:creationId xmlns:a16="http://schemas.microsoft.com/office/drawing/2014/main" id="{D0A33311-5912-42DA-8DE7-BFEE1AC59BCE}"/>
              </a:ext>
            </a:extLst>
          </p:cNvPr>
          <p:cNvSpPr>
            <a:spLocks noGrp="1"/>
          </p:cNvSpPr>
          <p:nvPr>
            <p:ph type="sldNum" sz="quarter" idx="12"/>
          </p:nvPr>
        </p:nvSpPr>
        <p:spPr/>
        <p:txBody>
          <a:bodyPr/>
          <a:lstStyle/>
          <a:p>
            <a:fld id="{36C2C8C4-90B5-4523-B1E5-1120D41CAE7D}" type="slidenum">
              <a:rPr lang="pt-PT" smtClean="0"/>
              <a:t>‹nº›</a:t>
            </a:fld>
            <a:endParaRPr lang="pt-PT"/>
          </a:p>
        </p:txBody>
      </p:sp>
    </p:spTree>
    <p:extLst>
      <p:ext uri="{BB962C8B-B14F-4D97-AF65-F5344CB8AC3E}">
        <p14:creationId xmlns:p14="http://schemas.microsoft.com/office/powerpoint/2010/main" val="23397215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52F406-3DF5-4250-AA59-22E506389C73}"/>
              </a:ext>
            </a:extLst>
          </p:cNvPr>
          <p:cNvSpPr>
            <a:spLocks noGrp="1"/>
          </p:cNvSpPr>
          <p:nvPr>
            <p:ph type="title"/>
          </p:nvPr>
        </p:nvSpPr>
        <p:spPr>
          <a:xfrm>
            <a:off x="839788" y="457200"/>
            <a:ext cx="3932237" cy="1600200"/>
          </a:xfrm>
        </p:spPr>
        <p:txBody>
          <a:bodyPr anchor="b"/>
          <a:lstStyle>
            <a:lvl1pPr>
              <a:defRPr sz="3200"/>
            </a:lvl1pPr>
          </a:lstStyle>
          <a:p>
            <a:r>
              <a:rPr lang="pt-PT"/>
              <a:t>Clique para editar o estilo de título do Modelo Global</a:t>
            </a:r>
          </a:p>
        </p:txBody>
      </p:sp>
      <p:sp>
        <p:nvSpPr>
          <p:cNvPr id="3" name="Marcador de Posição de Conteúdo 2">
            <a:extLst>
              <a:ext uri="{FF2B5EF4-FFF2-40B4-BE49-F238E27FC236}">
                <a16:creationId xmlns:a16="http://schemas.microsoft.com/office/drawing/2014/main" id="{B809CECE-DD6D-4047-BC2A-5C16E4110D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o Texto 3">
            <a:extLst>
              <a:ext uri="{FF2B5EF4-FFF2-40B4-BE49-F238E27FC236}">
                <a16:creationId xmlns:a16="http://schemas.microsoft.com/office/drawing/2014/main" id="{8B7C9A87-CC8D-4087-9C87-E6564E30A7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a:t>Clique para editar os estilos do texto de Modelo Global</a:t>
            </a:r>
          </a:p>
        </p:txBody>
      </p:sp>
      <p:sp>
        <p:nvSpPr>
          <p:cNvPr id="5" name="Marcador de Posição da Data 4">
            <a:extLst>
              <a:ext uri="{FF2B5EF4-FFF2-40B4-BE49-F238E27FC236}">
                <a16:creationId xmlns:a16="http://schemas.microsoft.com/office/drawing/2014/main" id="{FA6615E7-FF54-4438-BFAA-57EE419AA692}"/>
              </a:ext>
            </a:extLst>
          </p:cNvPr>
          <p:cNvSpPr>
            <a:spLocks noGrp="1"/>
          </p:cNvSpPr>
          <p:nvPr>
            <p:ph type="dt" sz="half" idx="10"/>
          </p:nvPr>
        </p:nvSpPr>
        <p:spPr/>
        <p:txBody>
          <a:bodyPr/>
          <a:lstStyle/>
          <a:p>
            <a:fld id="{DEEF7F77-927E-442F-AFC3-6D8E72EC5AD2}" type="datetime1">
              <a:rPr lang="pt-PT" smtClean="0"/>
              <a:t>31/08/2020</a:t>
            </a:fld>
            <a:endParaRPr lang="pt-PT"/>
          </a:p>
        </p:txBody>
      </p:sp>
      <p:sp>
        <p:nvSpPr>
          <p:cNvPr id="6" name="Marcador de Posição do Rodapé 5">
            <a:extLst>
              <a:ext uri="{FF2B5EF4-FFF2-40B4-BE49-F238E27FC236}">
                <a16:creationId xmlns:a16="http://schemas.microsoft.com/office/drawing/2014/main" id="{69061911-BBAF-44F6-8018-AEF7BC7DC69B}"/>
              </a:ext>
            </a:extLst>
          </p:cNvPr>
          <p:cNvSpPr>
            <a:spLocks noGrp="1"/>
          </p:cNvSpPr>
          <p:nvPr>
            <p:ph type="ftr" sz="quarter" idx="11"/>
          </p:nvPr>
        </p:nvSpPr>
        <p:spPr/>
        <p:txBody>
          <a:bodyPr/>
          <a:lstStyle/>
          <a:p>
            <a:r>
              <a:rPr lang="pt-PT"/>
              <a:t>RE4SuSY 2020</a:t>
            </a:r>
          </a:p>
        </p:txBody>
      </p:sp>
      <p:sp>
        <p:nvSpPr>
          <p:cNvPr id="7" name="Marcador de Posição do Número do Diapositivo 6">
            <a:extLst>
              <a:ext uri="{FF2B5EF4-FFF2-40B4-BE49-F238E27FC236}">
                <a16:creationId xmlns:a16="http://schemas.microsoft.com/office/drawing/2014/main" id="{75B06BF9-0670-4777-9F77-688E7E51876D}"/>
              </a:ext>
            </a:extLst>
          </p:cNvPr>
          <p:cNvSpPr>
            <a:spLocks noGrp="1"/>
          </p:cNvSpPr>
          <p:nvPr>
            <p:ph type="sldNum" sz="quarter" idx="12"/>
          </p:nvPr>
        </p:nvSpPr>
        <p:spPr/>
        <p:txBody>
          <a:bodyPr/>
          <a:lstStyle/>
          <a:p>
            <a:fld id="{36C2C8C4-90B5-4523-B1E5-1120D41CAE7D}" type="slidenum">
              <a:rPr lang="pt-PT" smtClean="0"/>
              <a:t>‹nº›</a:t>
            </a:fld>
            <a:endParaRPr lang="pt-PT"/>
          </a:p>
        </p:txBody>
      </p:sp>
    </p:spTree>
    <p:extLst>
      <p:ext uri="{BB962C8B-B14F-4D97-AF65-F5344CB8AC3E}">
        <p14:creationId xmlns:p14="http://schemas.microsoft.com/office/powerpoint/2010/main" val="328696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1F7EE8-FECE-487B-8B7B-6B12FE9709F6}"/>
              </a:ext>
            </a:extLst>
          </p:cNvPr>
          <p:cNvSpPr>
            <a:spLocks noGrp="1"/>
          </p:cNvSpPr>
          <p:nvPr>
            <p:ph type="title"/>
          </p:nvPr>
        </p:nvSpPr>
        <p:spPr>
          <a:xfrm>
            <a:off x="839788" y="457200"/>
            <a:ext cx="3932237" cy="1600200"/>
          </a:xfrm>
        </p:spPr>
        <p:txBody>
          <a:bodyPr anchor="b"/>
          <a:lstStyle>
            <a:lvl1pPr>
              <a:defRPr sz="3200"/>
            </a:lvl1pPr>
          </a:lstStyle>
          <a:p>
            <a:r>
              <a:rPr lang="pt-PT"/>
              <a:t>Clique para editar o estilo de título do Modelo Global</a:t>
            </a:r>
          </a:p>
        </p:txBody>
      </p:sp>
      <p:sp>
        <p:nvSpPr>
          <p:cNvPr id="3" name="Marcador de Posição da Imagem 2">
            <a:extLst>
              <a:ext uri="{FF2B5EF4-FFF2-40B4-BE49-F238E27FC236}">
                <a16:creationId xmlns:a16="http://schemas.microsoft.com/office/drawing/2014/main" id="{F1802AAE-1383-493F-BF9D-6E30F9EFC0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PT"/>
          </a:p>
        </p:txBody>
      </p:sp>
      <p:sp>
        <p:nvSpPr>
          <p:cNvPr id="4" name="Marcador de Posição do Texto 3">
            <a:extLst>
              <a:ext uri="{FF2B5EF4-FFF2-40B4-BE49-F238E27FC236}">
                <a16:creationId xmlns:a16="http://schemas.microsoft.com/office/drawing/2014/main" id="{FCA12B90-3B2B-4BC6-ACCD-6334A582C0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a:t>Clique para editar os estilos do texto de Modelo Global</a:t>
            </a:r>
          </a:p>
        </p:txBody>
      </p:sp>
      <p:sp>
        <p:nvSpPr>
          <p:cNvPr id="5" name="Marcador de Posição da Data 4">
            <a:extLst>
              <a:ext uri="{FF2B5EF4-FFF2-40B4-BE49-F238E27FC236}">
                <a16:creationId xmlns:a16="http://schemas.microsoft.com/office/drawing/2014/main" id="{DDD3FAD1-CB83-4820-8A5A-5BA7437EF4A5}"/>
              </a:ext>
            </a:extLst>
          </p:cNvPr>
          <p:cNvSpPr>
            <a:spLocks noGrp="1"/>
          </p:cNvSpPr>
          <p:nvPr>
            <p:ph type="dt" sz="half" idx="10"/>
          </p:nvPr>
        </p:nvSpPr>
        <p:spPr/>
        <p:txBody>
          <a:bodyPr/>
          <a:lstStyle/>
          <a:p>
            <a:fld id="{EB716525-5BE0-4795-97A6-AF1681D164C3}" type="datetime1">
              <a:rPr lang="pt-PT" smtClean="0"/>
              <a:t>31/08/2020</a:t>
            </a:fld>
            <a:endParaRPr lang="pt-PT"/>
          </a:p>
        </p:txBody>
      </p:sp>
      <p:sp>
        <p:nvSpPr>
          <p:cNvPr id="6" name="Marcador de Posição do Rodapé 5">
            <a:extLst>
              <a:ext uri="{FF2B5EF4-FFF2-40B4-BE49-F238E27FC236}">
                <a16:creationId xmlns:a16="http://schemas.microsoft.com/office/drawing/2014/main" id="{5097A003-44CF-4340-A426-5013842E0A81}"/>
              </a:ext>
            </a:extLst>
          </p:cNvPr>
          <p:cNvSpPr>
            <a:spLocks noGrp="1"/>
          </p:cNvSpPr>
          <p:nvPr>
            <p:ph type="ftr" sz="quarter" idx="11"/>
          </p:nvPr>
        </p:nvSpPr>
        <p:spPr/>
        <p:txBody>
          <a:bodyPr/>
          <a:lstStyle/>
          <a:p>
            <a:r>
              <a:rPr lang="pt-PT"/>
              <a:t>RE4SuSY 2020</a:t>
            </a:r>
          </a:p>
        </p:txBody>
      </p:sp>
      <p:sp>
        <p:nvSpPr>
          <p:cNvPr id="7" name="Marcador de Posição do Número do Diapositivo 6">
            <a:extLst>
              <a:ext uri="{FF2B5EF4-FFF2-40B4-BE49-F238E27FC236}">
                <a16:creationId xmlns:a16="http://schemas.microsoft.com/office/drawing/2014/main" id="{6F1D0EA0-779C-4F87-ADB9-312545009689}"/>
              </a:ext>
            </a:extLst>
          </p:cNvPr>
          <p:cNvSpPr>
            <a:spLocks noGrp="1"/>
          </p:cNvSpPr>
          <p:nvPr>
            <p:ph type="sldNum" sz="quarter" idx="12"/>
          </p:nvPr>
        </p:nvSpPr>
        <p:spPr/>
        <p:txBody>
          <a:bodyPr/>
          <a:lstStyle/>
          <a:p>
            <a:fld id="{36C2C8C4-90B5-4523-B1E5-1120D41CAE7D}" type="slidenum">
              <a:rPr lang="pt-PT" smtClean="0"/>
              <a:t>‹nº›</a:t>
            </a:fld>
            <a:endParaRPr lang="pt-PT"/>
          </a:p>
        </p:txBody>
      </p:sp>
    </p:spTree>
    <p:extLst>
      <p:ext uri="{BB962C8B-B14F-4D97-AF65-F5344CB8AC3E}">
        <p14:creationId xmlns:p14="http://schemas.microsoft.com/office/powerpoint/2010/main" val="3250664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B2EC05-6109-407A-9E42-208E634DD131}"/>
              </a:ext>
            </a:extLst>
          </p:cNvPr>
          <p:cNvSpPr>
            <a:spLocks noGrp="1"/>
          </p:cNvSpPr>
          <p:nvPr>
            <p:ph type="title"/>
          </p:nvPr>
        </p:nvSpPr>
        <p:spPr/>
        <p:txBody>
          <a:bodyPr/>
          <a:lstStyle/>
          <a:p>
            <a:r>
              <a:rPr lang="pt-PT"/>
              <a:t>Clique para editar o estilo de título do Modelo Global</a:t>
            </a:r>
          </a:p>
        </p:txBody>
      </p:sp>
      <p:sp>
        <p:nvSpPr>
          <p:cNvPr id="3" name="Marcador de Posição de Texto Vertical 2">
            <a:extLst>
              <a:ext uri="{FF2B5EF4-FFF2-40B4-BE49-F238E27FC236}">
                <a16:creationId xmlns:a16="http://schemas.microsoft.com/office/drawing/2014/main" id="{3149ECEA-2B3C-42D1-9425-E96D41910B95}"/>
              </a:ext>
            </a:extLst>
          </p:cNvPr>
          <p:cNvSpPr>
            <a:spLocks noGrp="1"/>
          </p:cNvSpPr>
          <p:nvPr>
            <p:ph type="body" orient="vert" idx="1"/>
          </p:nvPr>
        </p:nvSpPr>
        <p:spPr/>
        <p:txBody>
          <a:bodyPr vert="eaVert"/>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a Data 3">
            <a:extLst>
              <a:ext uri="{FF2B5EF4-FFF2-40B4-BE49-F238E27FC236}">
                <a16:creationId xmlns:a16="http://schemas.microsoft.com/office/drawing/2014/main" id="{92A78D6E-BB24-4925-9709-A51A9DE7FB36}"/>
              </a:ext>
            </a:extLst>
          </p:cNvPr>
          <p:cNvSpPr>
            <a:spLocks noGrp="1"/>
          </p:cNvSpPr>
          <p:nvPr>
            <p:ph type="dt" sz="half" idx="10"/>
          </p:nvPr>
        </p:nvSpPr>
        <p:spPr/>
        <p:txBody>
          <a:bodyPr/>
          <a:lstStyle/>
          <a:p>
            <a:fld id="{37F27E28-BC77-4378-B6A7-E7EE604E4937}" type="datetime1">
              <a:rPr lang="pt-PT" smtClean="0"/>
              <a:t>31/08/2020</a:t>
            </a:fld>
            <a:endParaRPr lang="pt-PT"/>
          </a:p>
        </p:txBody>
      </p:sp>
      <p:sp>
        <p:nvSpPr>
          <p:cNvPr id="5" name="Marcador de Posição do Rodapé 4">
            <a:extLst>
              <a:ext uri="{FF2B5EF4-FFF2-40B4-BE49-F238E27FC236}">
                <a16:creationId xmlns:a16="http://schemas.microsoft.com/office/drawing/2014/main" id="{BF9162F1-C3AF-4B5F-9A08-71C9F1A16898}"/>
              </a:ext>
            </a:extLst>
          </p:cNvPr>
          <p:cNvSpPr>
            <a:spLocks noGrp="1"/>
          </p:cNvSpPr>
          <p:nvPr>
            <p:ph type="ftr" sz="quarter" idx="11"/>
          </p:nvPr>
        </p:nvSpPr>
        <p:spPr/>
        <p:txBody>
          <a:bodyPr/>
          <a:lstStyle/>
          <a:p>
            <a:r>
              <a:rPr lang="pt-PT"/>
              <a:t>RE4SuSY 2020</a:t>
            </a:r>
          </a:p>
        </p:txBody>
      </p:sp>
      <p:sp>
        <p:nvSpPr>
          <p:cNvPr id="6" name="Marcador de Posição do Número do Diapositivo 5">
            <a:extLst>
              <a:ext uri="{FF2B5EF4-FFF2-40B4-BE49-F238E27FC236}">
                <a16:creationId xmlns:a16="http://schemas.microsoft.com/office/drawing/2014/main" id="{D600A5B1-F702-4448-9A13-FCB3A68679CE}"/>
              </a:ext>
            </a:extLst>
          </p:cNvPr>
          <p:cNvSpPr>
            <a:spLocks noGrp="1"/>
          </p:cNvSpPr>
          <p:nvPr>
            <p:ph type="sldNum" sz="quarter" idx="12"/>
          </p:nvPr>
        </p:nvSpPr>
        <p:spPr/>
        <p:txBody>
          <a:bodyPr/>
          <a:lstStyle/>
          <a:p>
            <a:fld id="{36C2C8C4-90B5-4523-B1E5-1120D41CAE7D}" type="slidenum">
              <a:rPr lang="pt-PT" smtClean="0"/>
              <a:t>‹nº›</a:t>
            </a:fld>
            <a:endParaRPr lang="pt-PT"/>
          </a:p>
        </p:txBody>
      </p:sp>
    </p:spTree>
    <p:extLst>
      <p:ext uri="{BB962C8B-B14F-4D97-AF65-F5344CB8AC3E}">
        <p14:creationId xmlns:p14="http://schemas.microsoft.com/office/powerpoint/2010/main" val="3112360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e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A03FED9-EB5D-436B-A770-2C2C0E623179}"/>
              </a:ext>
            </a:extLst>
          </p:cNvPr>
          <p:cNvSpPr>
            <a:spLocks noGrp="1"/>
          </p:cNvSpPr>
          <p:nvPr>
            <p:ph type="title" orient="vert"/>
          </p:nvPr>
        </p:nvSpPr>
        <p:spPr>
          <a:xfrm>
            <a:off x="8724900" y="365125"/>
            <a:ext cx="2628900" cy="5811838"/>
          </a:xfrm>
        </p:spPr>
        <p:txBody>
          <a:bodyPr vert="eaVert"/>
          <a:lstStyle/>
          <a:p>
            <a:r>
              <a:rPr lang="pt-PT"/>
              <a:t>Clique para editar o estilo de título do Modelo Global</a:t>
            </a:r>
          </a:p>
        </p:txBody>
      </p:sp>
      <p:sp>
        <p:nvSpPr>
          <p:cNvPr id="3" name="Marcador de Posição de Texto Vertical 2">
            <a:extLst>
              <a:ext uri="{FF2B5EF4-FFF2-40B4-BE49-F238E27FC236}">
                <a16:creationId xmlns:a16="http://schemas.microsoft.com/office/drawing/2014/main" id="{273AA38C-BD55-4D0A-9DB8-146E83BFF4FC}"/>
              </a:ext>
            </a:extLst>
          </p:cNvPr>
          <p:cNvSpPr>
            <a:spLocks noGrp="1"/>
          </p:cNvSpPr>
          <p:nvPr>
            <p:ph type="body" orient="vert" idx="1"/>
          </p:nvPr>
        </p:nvSpPr>
        <p:spPr>
          <a:xfrm>
            <a:off x="838200" y="365125"/>
            <a:ext cx="7734300" cy="5811838"/>
          </a:xfrm>
        </p:spPr>
        <p:txBody>
          <a:bodyPr vert="eaVert"/>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a Data 3">
            <a:extLst>
              <a:ext uri="{FF2B5EF4-FFF2-40B4-BE49-F238E27FC236}">
                <a16:creationId xmlns:a16="http://schemas.microsoft.com/office/drawing/2014/main" id="{4F928DA4-4E28-42D9-B392-61787BB4B7BA}"/>
              </a:ext>
            </a:extLst>
          </p:cNvPr>
          <p:cNvSpPr>
            <a:spLocks noGrp="1"/>
          </p:cNvSpPr>
          <p:nvPr>
            <p:ph type="dt" sz="half" idx="10"/>
          </p:nvPr>
        </p:nvSpPr>
        <p:spPr/>
        <p:txBody>
          <a:bodyPr/>
          <a:lstStyle/>
          <a:p>
            <a:fld id="{E5FAA425-694E-458F-860E-8CB7FC0C920E}" type="datetime1">
              <a:rPr lang="pt-PT" smtClean="0"/>
              <a:t>31/08/2020</a:t>
            </a:fld>
            <a:endParaRPr lang="pt-PT"/>
          </a:p>
        </p:txBody>
      </p:sp>
      <p:sp>
        <p:nvSpPr>
          <p:cNvPr id="5" name="Marcador de Posição do Rodapé 4">
            <a:extLst>
              <a:ext uri="{FF2B5EF4-FFF2-40B4-BE49-F238E27FC236}">
                <a16:creationId xmlns:a16="http://schemas.microsoft.com/office/drawing/2014/main" id="{A45DD4F8-B9F4-4F11-8003-084B1BB936D7}"/>
              </a:ext>
            </a:extLst>
          </p:cNvPr>
          <p:cNvSpPr>
            <a:spLocks noGrp="1"/>
          </p:cNvSpPr>
          <p:nvPr>
            <p:ph type="ftr" sz="quarter" idx="11"/>
          </p:nvPr>
        </p:nvSpPr>
        <p:spPr/>
        <p:txBody>
          <a:bodyPr/>
          <a:lstStyle/>
          <a:p>
            <a:r>
              <a:rPr lang="pt-PT"/>
              <a:t>RE4SuSY 2020</a:t>
            </a:r>
          </a:p>
        </p:txBody>
      </p:sp>
      <p:sp>
        <p:nvSpPr>
          <p:cNvPr id="6" name="Marcador de Posição do Número do Diapositivo 5">
            <a:extLst>
              <a:ext uri="{FF2B5EF4-FFF2-40B4-BE49-F238E27FC236}">
                <a16:creationId xmlns:a16="http://schemas.microsoft.com/office/drawing/2014/main" id="{672D53EE-A5A1-4A6B-A145-7D5236949001}"/>
              </a:ext>
            </a:extLst>
          </p:cNvPr>
          <p:cNvSpPr>
            <a:spLocks noGrp="1"/>
          </p:cNvSpPr>
          <p:nvPr>
            <p:ph type="sldNum" sz="quarter" idx="12"/>
          </p:nvPr>
        </p:nvSpPr>
        <p:spPr/>
        <p:txBody>
          <a:bodyPr/>
          <a:lstStyle/>
          <a:p>
            <a:fld id="{36C2C8C4-90B5-4523-B1E5-1120D41CAE7D}" type="slidenum">
              <a:rPr lang="pt-PT" smtClean="0"/>
              <a:t>‹nº›</a:t>
            </a:fld>
            <a:endParaRPr lang="pt-PT"/>
          </a:p>
        </p:txBody>
      </p:sp>
    </p:spTree>
    <p:extLst>
      <p:ext uri="{BB962C8B-B14F-4D97-AF65-F5344CB8AC3E}">
        <p14:creationId xmlns:p14="http://schemas.microsoft.com/office/powerpoint/2010/main" val="3248346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Título 1">
            <a:extLst>
              <a:ext uri="{FF2B5EF4-FFF2-40B4-BE49-F238E27FC236}">
                <a16:creationId xmlns:a16="http://schemas.microsoft.com/office/drawing/2014/main" id="{20C9C820-1333-4DC5-88B4-966E2F0AA3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PT"/>
              <a:t>Clique para editar o estilo de título do Modelo Global</a:t>
            </a:r>
          </a:p>
        </p:txBody>
      </p:sp>
      <p:sp>
        <p:nvSpPr>
          <p:cNvPr id="3" name="Marcador de Posição do Texto 2">
            <a:extLst>
              <a:ext uri="{FF2B5EF4-FFF2-40B4-BE49-F238E27FC236}">
                <a16:creationId xmlns:a16="http://schemas.microsoft.com/office/drawing/2014/main" id="{97CD5B3B-DF0C-431B-B4AC-F7D376A6B0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a Data 3">
            <a:extLst>
              <a:ext uri="{FF2B5EF4-FFF2-40B4-BE49-F238E27FC236}">
                <a16:creationId xmlns:a16="http://schemas.microsoft.com/office/drawing/2014/main" id="{3C53DDD9-2D21-45EA-982A-F7EFA6E19F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EA5CCF-4A54-4CFB-97BE-6F64F72A22E4}" type="datetime1">
              <a:rPr lang="pt-PT" smtClean="0"/>
              <a:t>31/08/2020</a:t>
            </a:fld>
            <a:endParaRPr lang="pt-PT"/>
          </a:p>
        </p:txBody>
      </p:sp>
      <p:sp>
        <p:nvSpPr>
          <p:cNvPr id="5" name="Marcador de Posição do Rodapé 4">
            <a:extLst>
              <a:ext uri="{FF2B5EF4-FFF2-40B4-BE49-F238E27FC236}">
                <a16:creationId xmlns:a16="http://schemas.microsoft.com/office/drawing/2014/main" id="{7E889239-0FD1-4416-92D6-431B156B22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pt-PT"/>
              <a:t>RE4SuSY 2020</a:t>
            </a:r>
          </a:p>
        </p:txBody>
      </p:sp>
      <p:sp>
        <p:nvSpPr>
          <p:cNvPr id="6" name="Marcador de Posição do Número do Diapositivo 5">
            <a:extLst>
              <a:ext uri="{FF2B5EF4-FFF2-40B4-BE49-F238E27FC236}">
                <a16:creationId xmlns:a16="http://schemas.microsoft.com/office/drawing/2014/main" id="{90D6401A-4419-4E86-B88D-3C244D5028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C2C8C4-90B5-4523-B1E5-1120D41CAE7D}" type="slidenum">
              <a:rPr lang="pt-PT" smtClean="0"/>
              <a:t>‹nº›</a:t>
            </a:fld>
            <a:endParaRPr lang="pt-PT"/>
          </a:p>
        </p:txBody>
      </p:sp>
    </p:spTree>
    <p:extLst>
      <p:ext uri="{BB962C8B-B14F-4D97-AF65-F5344CB8AC3E}">
        <p14:creationId xmlns:p14="http://schemas.microsoft.com/office/powerpoint/2010/main" val="2797461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4C2628-C8DC-4550-98EC-347728D554AD}"/>
              </a:ext>
            </a:extLst>
          </p:cNvPr>
          <p:cNvSpPr>
            <a:spLocks noGrp="1"/>
          </p:cNvSpPr>
          <p:nvPr>
            <p:ph type="ctrTitle"/>
          </p:nvPr>
        </p:nvSpPr>
        <p:spPr/>
        <p:txBody>
          <a:bodyPr>
            <a:normAutofit/>
          </a:bodyPr>
          <a:lstStyle/>
          <a:p>
            <a:r>
              <a:rPr lang="en-US" sz="4000" dirty="0">
                <a:effectLst/>
                <a:latin typeface="Times New Roman" panose="02020603050405020304" pitchFamily="18" charset="0"/>
                <a:ea typeface="MS Mincho" panose="02020609040205080304" pitchFamily="49" charset="-128"/>
              </a:rPr>
              <a:t>Discussion Towards a Library of Software Sustainability Requirements</a:t>
            </a:r>
            <a:endParaRPr lang="pt-PT" sz="4000" dirty="0"/>
          </a:p>
        </p:txBody>
      </p:sp>
      <p:sp>
        <p:nvSpPr>
          <p:cNvPr id="3" name="Subtítulo 2">
            <a:extLst>
              <a:ext uri="{FF2B5EF4-FFF2-40B4-BE49-F238E27FC236}">
                <a16:creationId xmlns:a16="http://schemas.microsoft.com/office/drawing/2014/main" id="{FBB8D178-0A5B-423E-B702-2CDB996127BA}"/>
              </a:ext>
            </a:extLst>
          </p:cNvPr>
          <p:cNvSpPr>
            <a:spLocks noGrp="1"/>
          </p:cNvSpPr>
          <p:nvPr>
            <p:ph type="subTitle" idx="1"/>
          </p:nvPr>
        </p:nvSpPr>
        <p:spPr/>
        <p:txBody>
          <a:bodyPr>
            <a:normAutofit/>
          </a:bodyPr>
          <a:lstStyle/>
          <a:p>
            <a:r>
              <a:rPr lang="en-US" sz="1600" b="1" i="1" dirty="0"/>
              <a:t>This work has been partially supported by Portuguese National funds through </a:t>
            </a:r>
          </a:p>
          <a:p>
            <a:r>
              <a:rPr lang="en-US" sz="1600" b="1" i="1" dirty="0"/>
              <a:t>FITEC - </a:t>
            </a:r>
            <a:r>
              <a:rPr lang="en-US" sz="1600" b="1" i="1" dirty="0" err="1"/>
              <a:t>Programa</a:t>
            </a:r>
            <a:r>
              <a:rPr lang="en-US" sz="1600" b="1" i="1" dirty="0"/>
              <a:t> Interface, with reference CIT "INOV - INESC INOVAÇÃO - </a:t>
            </a:r>
            <a:r>
              <a:rPr lang="en-US" sz="1600" b="1" i="1" dirty="0" err="1"/>
              <a:t>Financiamento</a:t>
            </a:r>
            <a:r>
              <a:rPr lang="en-US" sz="1600" b="1" i="1" dirty="0"/>
              <a:t> Base”</a:t>
            </a:r>
          </a:p>
        </p:txBody>
      </p:sp>
      <p:pic>
        <p:nvPicPr>
          <p:cNvPr id="4" name="Imagem 3">
            <a:extLst>
              <a:ext uri="{FF2B5EF4-FFF2-40B4-BE49-F238E27FC236}">
                <a16:creationId xmlns:a16="http://schemas.microsoft.com/office/drawing/2014/main" id="{EFA1C651-F534-4C7A-B042-1D9339CD75E6}"/>
              </a:ext>
            </a:extLst>
          </p:cNvPr>
          <p:cNvPicPr>
            <a:picLocks noChangeAspect="1"/>
          </p:cNvPicPr>
          <p:nvPr/>
        </p:nvPicPr>
        <p:blipFill>
          <a:blip r:embed="rId2"/>
          <a:stretch>
            <a:fillRect/>
          </a:stretch>
        </p:blipFill>
        <p:spPr>
          <a:xfrm>
            <a:off x="473889" y="325812"/>
            <a:ext cx="2865211" cy="914745"/>
          </a:xfrm>
          <a:prstGeom prst="rect">
            <a:avLst/>
          </a:prstGeom>
        </p:spPr>
      </p:pic>
      <p:sp>
        <p:nvSpPr>
          <p:cNvPr id="5" name="CaixaDeTexto 4">
            <a:extLst>
              <a:ext uri="{FF2B5EF4-FFF2-40B4-BE49-F238E27FC236}">
                <a16:creationId xmlns:a16="http://schemas.microsoft.com/office/drawing/2014/main" id="{61C6073C-7A20-41A1-8917-15413AA3990B}"/>
              </a:ext>
            </a:extLst>
          </p:cNvPr>
          <p:cNvSpPr txBox="1"/>
          <p:nvPr/>
        </p:nvSpPr>
        <p:spPr>
          <a:xfrm>
            <a:off x="2390201" y="4941870"/>
            <a:ext cx="3567643" cy="923330"/>
          </a:xfrm>
          <a:prstGeom prst="rect">
            <a:avLst/>
          </a:prstGeom>
          <a:noFill/>
        </p:spPr>
        <p:txBody>
          <a:bodyPr wrap="none" rtlCol="0">
            <a:spAutoFit/>
          </a:bodyPr>
          <a:lstStyle/>
          <a:p>
            <a:pPr algn="ctr"/>
            <a:r>
              <a:rPr lang="pt-PT" dirty="0"/>
              <a:t>Rui Carvalho</a:t>
            </a:r>
          </a:p>
          <a:p>
            <a:pPr algn="ctr"/>
            <a:r>
              <a:rPr lang="pt-PT" dirty="0"/>
              <a:t>INOV.PT, IST, Universidade de Lisboa</a:t>
            </a:r>
          </a:p>
          <a:p>
            <a:endParaRPr lang="pt-PT" dirty="0"/>
          </a:p>
        </p:txBody>
      </p:sp>
      <p:sp>
        <p:nvSpPr>
          <p:cNvPr id="7" name="CaixaDeTexto 6">
            <a:extLst>
              <a:ext uri="{FF2B5EF4-FFF2-40B4-BE49-F238E27FC236}">
                <a16:creationId xmlns:a16="http://schemas.microsoft.com/office/drawing/2014/main" id="{AB2775A9-E0C7-486F-8D69-358ADFB3214C}"/>
              </a:ext>
            </a:extLst>
          </p:cNvPr>
          <p:cNvSpPr txBox="1"/>
          <p:nvPr/>
        </p:nvSpPr>
        <p:spPr>
          <a:xfrm>
            <a:off x="6290876" y="4941870"/>
            <a:ext cx="3632854" cy="923330"/>
          </a:xfrm>
          <a:prstGeom prst="rect">
            <a:avLst/>
          </a:prstGeom>
          <a:noFill/>
        </p:spPr>
        <p:txBody>
          <a:bodyPr wrap="none" rtlCol="0">
            <a:spAutoFit/>
          </a:bodyPr>
          <a:lstStyle/>
          <a:p>
            <a:pPr algn="ctr"/>
            <a:r>
              <a:rPr lang="pt-PT" dirty="0"/>
              <a:t>Alberto Rodrigues da Silva</a:t>
            </a:r>
          </a:p>
          <a:p>
            <a:pPr algn="ctr"/>
            <a:r>
              <a:rPr lang="pt-PT" dirty="0"/>
              <a:t>INESC-ID, IST, Universidade de Lisboa</a:t>
            </a:r>
          </a:p>
          <a:p>
            <a:endParaRPr lang="pt-PT" dirty="0"/>
          </a:p>
        </p:txBody>
      </p:sp>
      <p:pic>
        <p:nvPicPr>
          <p:cNvPr id="8" name="Imagem 7">
            <a:extLst>
              <a:ext uri="{FF2B5EF4-FFF2-40B4-BE49-F238E27FC236}">
                <a16:creationId xmlns:a16="http://schemas.microsoft.com/office/drawing/2014/main" id="{EFF795D1-3D04-4FE5-BABB-A44EBB3A2E9E}"/>
              </a:ext>
            </a:extLst>
          </p:cNvPr>
          <p:cNvPicPr>
            <a:picLocks noChangeAspect="1"/>
          </p:cNvPicPr>
          <p:nvPr/>
        </p:nvPicPr>
        <p:blipFill>
          <a:blip r:embed="rId3"/>
          <a:stretch>
            <a:fillRect/>
          </a:stretch>
        </p:blipFill>
        <p:spPr>
          <a:xfrm>
            <a:off x="8265993" y="130606"/>
            <a:ext cx="3735889" cy="1655762"/>
          </a:xfrm>
          <a:prstGeom prst="rect">
            <a:avLst/>
          </a:prstGeom>
        </p:spPr>
      </p:pic>
      <p:pic>
        <p:nvPicPr>
          <p:cNvPr id="9" name="Imagem 8">
            <a:extLst>
              <a:ext uri="{FF2B5EF4-FFF2-40B4-BE49-F238E27FC236}">
                <a16:creationId xmlns:a16="http://schemas.microsoft.com/office/drawing/2014/main" id="{1F6D0CD3-3F3C-4763-AAFB-3448EBF91E8B}"/>
              </a:ext>
            </a:extLst>
          </p:cNvPr>
          <p:cNvPicPr>
            <a:picLocks noChangeAspect="1"/>
          </p:cNvPicPr>
          <p:nvPr/>
        </p:nvPicPr>
        <p:blipFill>
          <a:blip r:embed="rId4"/>
          <a:stretch>
            <a:fillRect/>
          </a:stretch>
        </p:blipFill>
        <p:spPr>
          <a:xfrm>
            <a:off x="3923596" y="58688"/>
            <a:ext cx="3740342" cy="1943200"/>
          </a:xfrm>
          <a:prstGeom prst="rect">
            <a:avLst/>
          </a:prstGeom>
        </p:spPr>
      </p:pic>
    </p:spTree>
    <p:extLst>
      <p:ext uri="{BB962C8B-B14F-4D97-AF65-F5344CB8AC3E}">
        <p14:creationId xmlns:p14="http://schemas.microsoft.com/office/powerpoint/2010/main" val="1392981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038AE6-AA62-4B76-A885-E85AAFB9A2CB}"/>
              </a:ext>
            </a:extLst>
          </p:cNvPr>
          <p:cNvSpPr>
            <a:spLocks noGrp="1"/>
          </p:cNvSpPr>
          <p:nvPr>
            <p:ph type="title"/>
          </p:nvPr>
        </p:nvSpPr>
        <p:spPr/>
        <p:txBody>
          <a:bodyPr/>
          <a:lstStyle/>
          <a:p>
            <a:r>
              <a:rPr lang="pt-PT" dirty="0" err="1"/>
              <a:t>Introduction</a:t>
            </a:r>
            <a:endParaRPr lang="pt-PT" dirty="0"/>
          </a:p>
        </p:txBody>
      </p:sp>
      <p:sp>
        <p:nvSpPr>
          <p:cNvPr id="3" name="Marcador de Posição do Rodapé 2">
            <a:extLst>
              <a:ext uri="{FF2B5EF4-FFF2-40B4-BE49-F238E27FC236}">
                <a16:creationId xmlns:a16="http://schemas.microsoft.com/office/drawing/2014/main" id="{624C7F44-9E16-4DBD-9CCD-D6CB0DCF2F80}"/>
              </a:ext>
            </a:extLst>
          </p:cNvPr>
          <p:cNvSpPr>
            <a:spLocks noGrp="1"/>
          </p:cNvSpPr>
          <p:nvPr>
            <p:ph type="ftr" sz="quarter" idx="11"/>
          </p:nvPr>
        </p:nvSpPr>
        <p:spPr/>
        <p:txBody>
          <a:bodyPr/>
          <a:lstStyle/>
          <a:p>
            <a:r>
              <a:rPr lang="pt-PT"/>
              <a:t>RE4SuSY 2020</a:t>
            </a:r>
          </a:p>
        </p:txBody>
      </p:sp>
      <p:sp>
        <p:nvSpPr>
          <p:cNvPr id="4" name="Marcador de Posição do Número do Diapositivo 3">
            <a:extLst>
              <a:ext uri="{FF2B5EF4-FFF2-40B4-BE49-F238E27FC236}">
                <a16:creationId xmlns:a16="http://schemas.microsoft.com/office/drawing/2014/main" id="{776FA266-6512-4087-8F08-B2420CF33B16}"/>
              </a:ext>
            </a:extLst>
          </p:cNvPr>
          <p:cNvSpPr>
            <a:spLocks noGrp="1"/>
          </p:cNvSpPr>
          <p:nvPr>
            <p:ph type="sldNum" sz="quarter" idx="12"/>
          </p:nvPr>
        </p:nvSpPr>
        <p:spPr/>
        <p:txBody>
          <a:bodyPr/>
          <a:lstStyle/>
          <a:p>
            <a:fld id="{36C2C8C4-90B5-4523-B1E5-1120D41CAE7D}" type="slidenum">
              <a:rPr lang="pt-PT" smtClean="0"/>
              <a:t>2</a:t>
            </a:fld>
            <a:endParaRPr lang="pt-PT"/>
          </a:p>
        </p:txBody>
      </p:sp>
      <p:sp>
        <p:nvSpPr>
          <p:cNvPr id="5" name="CaixaDeTexto 4">
            <a:extLst>
              <a:ext uri="{FF2B5EF4-FFF2-40B4-BE49-F238E27FC236}">
                <a16:creationId xmlns:a16="http://schemas.microsoft.com/office/drawing/2014/main" id="{FC5B9111-164C-4A7E-83E8-6696B8A9DD4C}"/>
              </a:ext>
            </a:extLst>
          </p:cNvPr>
          <p:cNvSpPr txBox="1"/>
          <p:nvPr/>
        </p:nvSpPr>
        <p:spPr>
          <a:xfrm>
            <a:off x="955497" y="1602769"/>
            <a:ext cx="10515600" cy="3693319"/>
          </a:xfrm>
          <a:prstGeom prst="rect">
            <a:avLst/>
          </a:prstGeom>
          <a:noFill/>
        </p:spPr>
        <p:txBody>
          <a:bodyPr wrap="square" rtlCol="0">
            <a:spAutoFit/>
          </a:bodyPr>
          <a:lstStyle/>
          <a:p>
            <a:pPr marL="285750" indent="-285750">
              <a:buFont typeface="Arial" panose="020B0604020202020204" pitchFamily="34" charset="0"/>
              <a:buChar char="•"/>
            </a:pPr>
            <a:r>
              <a:rPr lang="en-US" sz="1800" dirty="0">
                <a:effectLst/>
                <a:latin typeface="Times New Roman" panose="02020603050405020304" pitchFamily="18" charset="0"/>
                <a:ea typeface="SimSun" panose="02010600030101010101" pitchFamily="2" charset="-122"/>
              </a:rPr>
              <a:t>There is a growing concern regarding the deterioration of the environment.</a:t>
            </a:r>
          </a:p>
          <a:p>
            <a:pPr marL="285750" indent="-285750">
              <a:buFont typeface="Arial" panose="020B0604020202020204" pitchFamily="34" charset="0"/>
              <a:buChar char="•"/>
            </a:pPr>
            <a:endParaRPr lang="en-US" dirty="0">
              <a:latin typeface="Times New Roman" panose="02020603050405020304" pitchFamily="18" charset="0"/>
              <a:ea typeface="SimSun" panose="02010600030101010101" pitchFamily="2" charset="-122"/>
            </a:endParaRPr>
          </a:p>
          <a:p>
            <a:pPr marL="285750" indent="-285750">
              <a:buFont typeface="Arial" panose="020B0604020202020204" pitchFamily="34" charset="0"/>
              <a:buChar char="•"/>
            </a:pPr>
            <a:r>
              <a:rPr lang="en-US" sz="1800" b="1" dirty="0">
                <a:solidFill>
                  <a:schemeClr val="accent6">
                    <a:lumMod val="75000"/>
                  </a:schemeClr>
                </a:solidFill>
                <a:effectLst/>
                <a:latin typeface="Times New Roman" panose="02020603050405020304" pitchFamily="18" charset="0"/>
                <a:ea typeface="SimSun" panose="02010600030101010101" pitchFamily="2" charset="-122"/>
              </a:rPr>
              <a:t>Sustainable development</a:t>
            </a:r>
            <a:r>
              <a:rPr lang="en-US" sz="1800" dirty="0">
                <a:effectLst/>
                <a:latin typeface="Times New Roman" panose="02020603050405020304" pitchFamily="18" charset="0"/>
                <a:ea typeface="SimSun" panose="02010600030101010101" pitchFamily="2" charset="-122"/>
              </a:rPr>
              <a:t> implies a resource management that at the same time guarantees the satisfaction of the present and future generations.</a:t>
            </a:r>
          </a:p>
          <a:p>
            <a:endParaRPr lang="en-US" sz="1800" dirty="0">
              <a:effectLst/>
              <a:latin typeface="Times New Roman" panose="02020603050405020304" pitchFamily="18" charset="0"/>
              <a:ea typeface="SimSun" panose="02010600030101010101" pitchFamily="2" charset="-122"/>
            </a:endParaRPr>
          </a:p>
          <a:p>
            <a:pPr marL="285750" indent="-285750">
              <a:buFont typeface="Arial" panose="020B0604020202020204" pitchFamily="34" charset="0"/>
              <a:buChar char="•"/>
            </a:pPr>
            <a:r>
              <a:rPr lang="en-US" sz="1800" dirty="0">
                <a:effectLst/>
                <a:latin typeface="Times New Roman" panose="02020603050405020304" pitchFamily="18" charset="0"/>
                <a:ea typeface="SimSun" panose="02010600030101010101" pitchFamily="2" charset="-122"/>
              </a:rPr>
              <a:t>Sustainability </a:t>
            </a:r>
            <a:r>
              <a:rPr lang="en-US" sz="1800" b="1" dirty="0">
                <a:effectLst/>
                <a:latin typeface="Times New Roman" panose="02020603050405020304" pitchFamily="18" charset="0"/>
                <a:ea typeface="SimSun" panose="02010600030101010101" pitchFamily="2" charset="-122"/>
              </a:rPr>
              <a:t>implies</a:t>
            </a:r>
            <a:r>
              <a:rPr lang="en-US" sz="1800" dirty="0">
                <a:effectLst/>
                <a:latin typeface="Times New Roman" panose="02020603050405020304" pitchFamily="18" charset="0"/>
                <a:ea typeface="SimSun" panose="02010600030101010101" pitchFamily="2" charset="-122"/>
              </a:rPr>
              <a:t>: </a:t>
            </a:r>
            <a:r>
              <a:rPr lang="en-US" sz="1800" dirty="0" err="1">
                <a:effectLst/>
                <a:latin typeface="Times New Roman" panose="02020603050405020304" pitchFamily="18" charset="0"/>
                <a:ea typeface="SimSun" panose="02010600030101010101" pitchFamily="2" charset="-122"/>
              </a:rPr>
              <a:t>i</a:t>
            </a:r>
            <a:r>
              <a:rPr lang="en-US" sz="1800" dirty="0">
                <a:effectLst/>
                <a:latin typeface="Times New Roman" panose="02020603050405020304" pitchFamily="18" charset="0"/>
                <a:ea typeface="SimSun" panose="02010600030101010101" pitchFamily="2" charset="-122"/>
              </a:rPr>
              <a:t>) product design (eco-design), ii) supply-chain management and technological new “green” solutions for production and iii) new social processes.</a:t>
            </a:r>
            <a:endParaRPr lang="en-US" dirty="0">
              <a:latin typeface="Times New Roman" panose="02020603050405020304" pitchFamily="18" charset="0"/>
              <a:ea typeface="SimSun" panose="02010600030101010101" pitchFamily="2" charset="-122"/>
            </a:endParaRPr>
          </a:p>
          <a:p>
            <a:endParaRPr lang="en-US" sz="1800" dirty="0">
              <a:effectLst/>
              <a:latin typeface="Times New Roman" panose="02020603050405020304" pitchFamily="18" charset="0"/>
              <a:ea typeface="SimSun" panose="02010600030101010101" pitchFamily="2" charset="-122"/>
            </a:endParaRPr>
          </a:p>
          <a:p>
            <a:pPr marL="285750" indent="-285750">
              <a:buFont typeface="Arial" panose="020B0604020202020204" pitchFamily="34" charset="0"/>
              <a:buChar char="•"/>
            </a:pPr>
            <a:endParaRPr lang="en-US" dirty="0">
              <a:latin typeface="Times New Roman" panose="02020603050405020304" pitchFamily="18" charset="0"/>
              <a:ea typeface="SimSun" panose="02010600030101010101" pitchFamily="2" charset="-122"/>
            </a:endParaRPr>
          </a:p>
          <a:p>
            <a:pPr marL="285750" indent="-285750">
              <a:buFont typeface="Arial" panose="020B0604020202020204" pitchFamily="34" charset="0"/>
              <a:buChar char="•"/>
            </a:pPr>
            <a:r>
              <a:rPr lang="en-US" sz="1800" dirty="0">
                <a:effectLst/>
                <a:latin typeface="Times New Roman" panose="02020603050405020304" pitchFamily="18" charset="0"/>
                <a:ea typeface="SimSun" panose="02010600030101010101" pitchFamily="2" charset="-122"/>
              </a:rPr>
              <a:t>Using rigorous requirements specification (</a:t>
            </a:r>
            <a:r>
              <a:rPr lang="en-US" sz="1800" dirty="0" err="1">
                <a:effectLst/>
                <a:latin typeface="Times New Roman" panose="02020603050405020304" pitchFamily="18" charset="0"/>
                <a:ea typeface="SimSun" panose="02010600030101010101" pitchFamily="2" charset="-122"/>
              </a:rPr>
              <a:t>ITLingo</a:t>
            </a:r>
            <a:r>
              <a:rPr lang="en-US" sz="1800" dirty="0">
                <a:effectLst/>
                <a:latin typeface="Times New Roman" panose="02020603050405020304" pitchFamily="18" charset="0"/>
                <a:ea typeface="SimSun" panose="02010600030101010101" pitchFamily="2" charset="-122"/>
              </a:rPr>
              <a:t> RSL language - </a:t>
            </a:r>
            <a:r>
              <a:rPr lang="en-US" sz="1800" dirty="0">
                <a:solidFill>
                  <a:srgbClr val="000000"/>
                </a:solidFill>
                <a:effectLst/>
                <a:latin typeface="Times New Roman" panose="02020603050405020304" pitchFamily="18" charset="0"/>
                <a:ea typeface="SimSun" panose="02010600030101010101" pitchFamily="2" charset="-122"/>
              </a:rPr>
              <a:t>Requirements &amp; Tests Specification Language</a:t>
            </a:r>
            <a:r>
              <a:rPr lang="en-US" sz="1800" dirty="0">
                <a:effectLst/>
                <a:latin typeface="Times New Roman" panose="02020603050405020304" pitchFamily="18" charset="0"/>
                <a:ea typeface="SimSun" panose="02010600030101010101" pitchFamily="2" charset="-122"/>
              </a:rPr>
              <a:t>)</a:t>
            </a:r>
          </a:p>
          <a:p>
            <a:pPr marL="285750" indent="-285750">
              <a:buFont typeface="Arial" panose="020B0604020202020204" pitchFamily="34" charset="0"/>
              <a:buChar char="•"/>
            </a:pPr>
            <a:endParaRPr lang="en-US" dirty="0">
              <a:latin typeface="Times New Roman" panose="02020603050405020304" pitchFamily="18" charset="0"/>
              <a:ea typeface="SimSun" panose="02010600030101010101" pitchFamily="2" charset="-122"/>
            </a:endParaRPr>
          </a:p>
          <a:p>
            <a:pPr marL="285750" indent="-285750">
              <a:buFont typeface="Arial" panose="020B0604020202020204" pitchFamily="34" charset="0"/>
              <a:buChar char="•"/>
            </a:pPr>
            <a:endParaRPr lang="pt-PT" dirty="0"/>
          </a:p>
        </p:txBody>
      </p:sp>
    </p:spTree>
    <p:extLst>
      <p:ext uri="{BB962C8B-B14F-4D97-AF65-F5344CB8AC3E}">
        <p14:creationId xmlns:p14="http://schemas.microsoft.com/office/powerpoint/2010/main" val="198900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CCC33-B73E-453C-86BF-2C701D97452E}"/>
              </a:ext>
            </a:extLst>
          </p:cNvPr>
          <p:cNvSpPr>
            <a:spLocks noGrp="1"/>
          </p:cNvSpPr>
          <p:nvPr>
            <p:ph type="title"/>
          </p:nvPr>
        </p:nvSpPr>
        <p:spPr/>
        <p:txBody>
          <a:bodyPr/>
          <a:lstStyle/>
          <a:p>
            <a:r>
              <a:rPr lang="pt-PT" b="1" dirty="0">
                <a:solidFill>
                  <a:schemeClr val="accent6">
                    <a:lumMod val="75000"/>
                  </a:schemeClr>
                </a:solidFill>
              </a:rPr>
              <a:t>Software</a:t>
            </a:r>
            <a:r>
              <a:rPr lang="pt-PT" dirty="0"/>
              <a:t> </a:t>
            </a:r>
            <a:r>
              <a:rPr lang="pt-PT" b="1" dirty="0" err="1">
                <a:solidFill>
                  <a:schemeClr val="accent6">
                    <a:lumMod val="75000"/>
                  </a:schemeClr>
                </a:solidFill>
              </a:rPr>
              <a:t>Sustainability</a:t>
            </a:r>
            <a:endParaRPr lang="pt-PT" b="1" dirty="0">
              <a:solidFill>
                <a:schemeClr val="accent6">
                  <a:lumMod val="75000"/>
                </a:schemeClr>
              </a:solidFill>
            </a:endParaRPr>
          </a:p>
        </p:txBody>
      </p:sp>
      <p:sp>
        <p:nvSpPr>
          <p:cNvPr id="3" name="Marcador de Posição de Conteúdo 2">
            <a:extLst>
              <a:ext uri="{FF2B5EF4-FFF2-40B4-BE49-F238E27FC236}">
                <a16:creationId xmlns:a16="http://schemas.microsoft.com/office/drawing/2014/main" id="{4EC73349-E177-4F42-A4BF-36E5A8096A7D}"/>
              </a:ext>
            </a:extLst>
          </p:cNvPr>
          <p:cNvSpPr>
            <a:spLocks noGrp="1"/>
          </p:cNvSpPr>
          <p:nvPr>
            <p:ph idx="1"/>
          </p:nvPr>
        </p:nvSpPr>
        <p:spPr/>
        <p:txBody>
          <a:bodyPr>
            <a:normAutofit/>
          </a:bodyPr>
          <a:lstStyle/>
          <a:p>
            <a:pPr marL="0" indent="0">
              <a:buNone/>
            </a:pPr>
            <a:r>
              <a:rPr lang="en-US" sz="2400" dirty="0">
                <a:effectLst/>
                <a:latin typeface="Times New Roman" panose="02020603050405020304" pitchFamily="18" charset="0"/>
                <a:ea typeface="SimSun" panose="02010600030101010101" pitchFamily="2" charset="-122"/>
              </a:rPr>
              <a:t>Is software endurance that leads to software development to accomplish effective results for a long period of time [65].</a:t>
            </a:r>
          </a:p>
          <a:p>
            <a:pPr marL="0" indent="0">
              <a:buNone/>
            </a:pPr>
            <a:endParaRPr lang="en-US" sz="2400" dirty="0">
              <a:latin typeface="Times New Roman" panose="02020603050405020304" pitchFamily="18" charset="0"/>
              <a:ea typeface="SimSun" panose="02010600030101010101" pitchFamily="2" charset="-122"/>
              <a:cs typeface="Times New Roman" panose="02020603050405020304" pitchFamily="18" charset="0"/>
            </a:endParaRPr>
          </a:p>
          <a:p>
            <a:pPr marL="0" indent="0">
              <a:buNone/>
            </a:pPr>
            <a:r>
              <a:rPr lang="en-US" sz="2400" dirty="0">
                <a:latin typeface="Times New Roman" panose="02020603050405020304" pitchFamily="18" charset="0"/>
                <a:ea typeface="SimSun" panose="02010600030101010101" pitchFamily="2" charset="-122"/>
                <a:cs typeface="Times New Roman" panose="02020603050405020304" pitchFamily="18" charset="0"/>
              </a:rPr>
              <a:t>The main aspects are: </a:t>
            </a:r>
          </a:p>
          <a:p>
            <a:pPr marL="514350" indent="-514350">
              <a:buAutoNum type="romanLcParenR"/>
            </a:pPr>
            <a:r>
              <a:rPr lang="en-US" sz="2400" dirty="0">
                <a:latin typeface="Times New Roman" panose="02020603050405020304" pitchFamily="18" charset="0"/>
                <a:ea typeface="SimSun" panose="02010600030101010101" pitchFamily="2" charset="-122"/>
                <a:cs typeface="Times New Roman" panose="02020603050405020304" pitchFamily="18" charset="0"/>
              </a:rPr>
              <a:t>Responsible use of ecological, human and financial resources during development process;</a:t>
            </a:r>
          </a:p>
          <a:p>
            <a:pPr marL="514350" indent="-514350">
              <a:buAutoNum type="romanLcParenR"/>
            </a:pPr>
            <a:r>
              <a:rPr lang="en-US" sz="2400" dirty="0">
                <a:latin typeface="Times New Roman" panose="02020603050405020304" pitchFamily="18" charset="0"/>
                <a:cs typeface="Times New Roman" panose="02020603050405020304" pitchFamily="18" charset="0"/>
              </a:rPr>
              <a:t>The use of resources for production [11]. </a:t>
            </a:r>
            <a:endParaRPr lang="pt-PT" sz="2400" dirty="0">
              <a:latin typeface="Times New Roman" panose="02020603050405020304" pitchFamily="18" charset="0"/>
              <a:cs typeface="Times New Roman" panose="02020603050405020304" pitchFamily="18" charset="0"/>
            </a:endParaRPr>
          </a:p>
        </p:txBody>
      </p:sp>
      <p:sp>
        <p:nvSpPr>
          <p:cNvPr id="4" name="Marcador de Posição do Rodapé 3">
            <a:extLst>
              <a:ext uri="{FF2B5EF4-FFF2-40B4-BE49-F238E27FC236}">
                <a16:creationId xmlns:a16="http://schemas.microsoft.com/office/drawing/2014/main" id="{F1C7BE9B-40D4-4F05-BEF7-EBCDC1248145}"/>
              </a:ext>
            </a:extLst>
          </p:cNvPr>
          <p:cNvSpPr>
            <a:spLocks noGrp="1"/>
          </p:cNvSpPr>
          <p:nvPr>
            <p:ph type="ftr" sz="quarter" idx="11"/>
          </p:nvPr>
        </p:nvSpPr>
        <p:spPr/>
        <p:txBody>
          <a:bodyPr/>
          <a:lstStyle/>
          <a:p>
            <a:r>
              <a:rPr lang="pt-PT"/>
              <a:t>RE4SuSY 2020</a:t>
            </a:r>
          </a:p>
        </p:txBody>
      </p:sp>
      <p:sp>
        <p:nvSpPr>
          <p:cNvPr id="5" name="Marcador de Posição do Número do Diapositivo 4">
            <a:extLst>
              <a:ext uri="{FF2B5EF4-FFF2-40B4-BE49-F238E27FC236}">
                <a16:creationId xmlns:a16="http://schemas.microsoft.com/office/drawing/2014/main" id="{6325E9A8-7480-477C-849B-D7CFDADEEE4D}"/>
              </a:ext>
            </a:extLst>
          </p:cNvPr>
          <p:cNvSpPr>
            <a:spLocks noGrp="1"/>
          </p:cNvSpPr>
          <p:nvPr>
            <p:ph type="sldNum" sz="quarter" idx="12"/>
          </p:nvPr>
        </p:nvSpPr>
        <p:spPr/>
        <p:txBody>
          <a:bodyPr/>
          <a:lstStyle/>
          <a:p>
            <a:fld id="{36C2C8C4-90B5-4523-B1E5-1120D41CAE7D}" type="slidenum">
              <a:rPr lang="pt-PT" smtClean="0"/>
              <a:t>3</a:t>
            </a:fld>
            <a:endParaRPr lang="pt-PT"/>
          </a:p>
        </p:txBody>
      </p:sp>
    </p:spTree>
    <p:extLst>
      <p:ext uri="{BB962C8B-B14F-4D97-AF65-F5344CB8AC3E}">
        <p14:creationId xmlns:p14="http://schemas.microsoft.com/office/powerpoint/2010/main" val="2823559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EF0998-9C40-463E-A625-0E3C81B45A79}"/>
              </a:ext>
            </a:extLst>
          </p:cNvPr>
          <p:cNvSpPr>
            <a:spLocks noGrp="1"/>
          </p:cNvSpPr>
          <p:nvPr>
            <p:ph type="title"/>
          </p:nvPr>
        </p:nvSpPr>
        <p:spPr/>
        <p:txBody>
          <a:bodyPr/>
          <a:lstStyle/>
          <a:p>
            <a:r>
              <a:rPr lang="pt-PT" b="1" dirty="0">
                <a:solidFill>
                  <a:schemeClr val="accent6">
                    <a:lumMod val="75000"/>
                  </a:schemeClr>
                </a:solidFill>
              </a:rPr>
              <a:t>Software</a:t>
            </a:r>
            <a:r>
              <a:rPr lang="pt-PT" dirty="0"/>
              <a:t> </a:t>
            </a:r>
            <a:r>
              <a:rPr lang="pt-PT" b="1" dirty="0" err="1">
                <a:solidFill>
                  <a:schemeClr val="accent6">
                    <a:lumMod val="75000"/>
                  </a:schemeClr>
                </a:solidFill>
              </a:rPr>
              <a:t>Sustainability</a:t>
            </a:r>
            <a:endParaRPr lang="pt-PT" dirty="0"/>
          </a:p>
        </p:txBody>
      </p:sp>
      <p:pic>
        <p:nvPicPr>
          <p:cNvPr id="9" name="Marcador de Posição de Conteúdo 8">
            <a:extLst>
              <a:ext uri="{FF2B5EF4-FFF2-40B4-BE49-F238E27FC236}">
                <a16:creationId xmlns:a16="http://schemas.microsoft.com/office/drawing/2014/main" id="{CB8384D0-3A0E-47AF-A259-91B92DD0AA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80262" y="1825625"/>
            <a:ext cx="5231476" cy="4351338"/>
          </a:xfrm>
        </p:spPr>
      </p:pic>
      <p:sp>
        <p:nvSpPr>
          <p:cNvPr id="4" name="Marcador de Posição do Rodapé 3">
            <a:extLst>
              <a:ext uri="{FF2B5EF4-FFF2-40B4-BE49-F238E27FC236}">
                <a16:creationId xmlns:a16="http://schemas.microsoft.com/office/drawing/2014/main" id="{4338879B-1B87-4A03-86AA-398289999500}"/>
              </a:ext>
            </a:extLst>
          </p:cNvPr>
          <p:cNvSpPr>
            <a:spLocks noGrp="1"/>
          </p:cNvSpPr>
          <p:nvPr>
            <p:ph type="ftr" sz="quarter" idx="11"/>
          </p:nvPr>
        </p:nvSpPr>
        <p:spPr/>
        <p:txBody>
          <a:bodyPr/>
          <a:lstStyle/>
          <a:p>
            <a:r>
              <a:rPr lang="pt-PT"/>
              <a:t>RE4SuSY 2020</a:t>
            </a:r>
          </a:p>
        </p:txBody>
      </p:sp>
      <p:sp>
        <p:nvSpPr>
          <p:cNvPr id="5" name="Marcador de Posição do Número do Diapositivo 4">
            <a:extLst>
              <a:ext uri="{FF2B5EF4-FFF2-40B4-BE49-F238E27FC236}">
                <a16:creationId xmlns:a16="http://schemas.microsoft.com/office/drawing/2014/main" id="{E514DB27-DE6E-480C-B03E-C91AB7E1B583}"/>
              </a:ext>
            </a:extLst>
          </p:cNvPr>
          <p:cNvSpPr>
            <a:spLocks noGrp="1"/>
          </p:cNvSpPr>
          <p:nvPr>
            <p:ph type="sldNum" sz="quarter" idx="12"/>
          </p:nvPr>
        </p:nvSpPr>
        <p:spPr/>
        <p:txBody>
          <a:bodyPr/>
          <a:lstStyle/>
          <a:p>
            <a:fld id="{36C2C8C4-90B5-4523-B1E5-1120D41CAE7D}" type="slidenum">
              <a:rPr lang="pt-PT" smtClean="0"/>
              <a:t>4</a:t>
            </a:fld>
            <a:endParaRPr lang="pt-PT"/>
          </a:p>
        </p:txBody>
      </p:sp>
      <p:sp>
        <p:nvSpPr>
          <p:cNvPr id="10" name="Seta: Para a Esquerda 9">
            <a:extLst>
              <a:ext uri="{FF2B5EF4-FFF2-40B4-BE49-F238E27FC236}">
                <a16:creationId xmlns:a16="http://schemas.microsoft.com/office/drawing/2014/main" id="{D46A1F4E-66DF-4ABD-9288-AF2050AD8E29}"/>
              </a:ext>
            </a:extLst>
          </p:cNvPr>
          <p:cNvSpPr/>
          <p:nvPr/>
        </p:nvSpPr>
        <p:spPr>
          <a:xfrm>
            <a:off x="8311793" y="4171308"/>
            <a:ext cx="2301411" cy="147612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dirty="0"/>
              <a:t>Financial</a:t>
            </a:r>
          </a:p>
        </p:txBody>
      </p:sp>
      <p:sp>
        <p:nvSpPr>
          <p:cNvPr id="11" name="Seta: Para a Direita 10">
            <a:extLst>
              <a:ext uri="{FF2B5EF4-FFF2-40B4-BE49-F238E27FC236}">
                <a16:creationId xmlns:a16="http://schemas.microsoft.com/office/drawing/2014/main" id="{08368693-9C0B-4211-8943-CE3C1F1CA503}"/>
              </a:ext>
            </a:extLst>
          </p:cNvPr>
          <p:cNvSpPr/>
          <p:nvPr/>
        </p:nvSpPr>
        <p:spPr>
          <a:xfrm>
            <a:off x="838200" y="4345974"/>
            <a:ext cx="2952964" cy="1476125"/>
          </a:xfrm>
          <a:prstGeom prst="rightArrow">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dirty="0" err="1"/>
              <a:t>Human</a:t>
            </a:r>
            <a:endParaRPr lang="pt-PT" dirty="0"/>
          </a:p>
        </p:txBody>
      </p:sp>
      <p:sp>
        <p:nvSpPr>
          <p:cNvPr id="12" name="Seta: Para a Esquerda 11">
            <a:extLst>
              <a:ext uri="{FF2B5EF4-FFF2-40B4-BE49-F238E27FC236}">
                <a16:creationId xmlns:a16="http://schemas.microsoft.com/office/drawing/2014/main" id="{11EEB18A-66C0-4BF4-9785-DD7DDE275030}"/>
              </a:ext>
            </a:extLst>
          </p:cNvPr>
          <p:cNvSpPr/>
          <p:nvPr/>
        </p:nvSpPr>
        <p:spPr>
          <a:xfrm rot="20161260">
            <a:off x="6904234" y="1931541"/>
            <a:ext cx="4366517" cy="719191"/>
          </a:xfrm>
          <a:prstGeom prst="left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dirty="0" err="1"/>
              <a:t>Ecological</a:t>
            </a:r>
            <a:endParaRPr lang="pt-PT" dirty="0"/>
          </a:p>
        </p:txBody>
      </p:sp>
    </p:spTree>
    <p:extLst>
      <p:ext uri="{BB962C8B-B14F-4D97-AF65-F5344CB8AC3E}">
        <p14:creationId xmlns:p14="http://schemas.microsoft.com/office/powerpoint/2010/main" val="2263625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038AE6-AA62-4B76-A885-E85AAFB9A2CB}"/>
              </a:ext>
            </a:extLst>
          </p:cNvPr>
          <p:cNvSpPr>
            <a:spLocks noGrp="1"/>
          </p:cNvSpPr>
          <p:nvPr>
            <p:ph type="title"/>
          </p:nvPr>
        </p:nvSpPr>
        <p:spPr/>
        <p:txBody>
          <a:bodyPr/>
          <a:lstStyle/>
          <a:p>
            <a:r>
              <a:rPr lang="pt-PT" dirty="0" err="1"/>
              <a:t>Objectives</a:t>
            </a:r>
            <a:endParaRPr lang="pt-PT" dirty="0"/>
          </a:p>
        </p:txBody>
      </p:sp>
      <p:sp>
        <p:nvSpPr>
          <p:cNvPr id="3" name="Marcador de Posição do Rodapé 2">
            <a:extLst>
              <a:ext uri="{FF2B5EF4-FFF2-40B4-BE49-F238E27FC236}">
                <a16:creationId xmlns:a16="http://schemas.microsoft.com/office/drawing/2014/main" id="{624C7F44-9E16-4DBD-9CCD-D6CB0DCF2F80}"/>
              </a:ext>
            </a:extLst>
          </p:cNvPr>
          <p:cNvSpPr>
            <a:spLocks noGrp="1"/>
          </p:cNvSpPr>
          <p:nvPr>
            <p:ph type="ftr" sz="quarter" idx="11"/>
          </p:nvPr>
        </p:nvSpPr>
        <p:spPr/>
        <p:txBody>
          <a:bodyPr/>
          <a:lstStyle/>
          <a:p>
            <a:r>
              <a:rPr lang="pt-PT"/>
              <a:t>RE4SuSY 2020</a:t>
            </a:r>
          </a:p>
        </p:txBody>
      </p:sp>
      <p:sp>
        <p:nvSpPr>
          <p:cNvPr id="4" name="Marcador de Posição do Número do Diapositivo 3">
            <a:extLst>
              <a:ext uri="{FF2B5EF4-FFF2-40B4-BE49-F238E27FC236}">
                <a16:creationId xmlns:a16="http://schemas.microsoft.com/office/drawing/2014/main" id="{776FA266-6512-4087-8F08-B2420CF33B16}"/>
              </a:ext>
            </a:extLst>
          </p:cNvPr>
          <p:cNvSpPr>
            <a:spLocks noGrp="1"/>
          </p:cNvSpPr>
          <p:nvPr>
            <p:ph type="sldNum" sz="quarter" idx="12"/>
          </p:nvPr>
        </p:nvSpPr>
        <p:spPr/>
        <p:txBody>
          <a:bodyPr/>
          <a:lstStyle/>
          <a:p>
            <a:fld id="{36C2C8C4-90B5-4523-B1E5-1120D41CAE7D}" type="slidenum">
              <a:rPr lang="pt-PT" smtClean="0"/>
              <a:t>5</a:t>
            </a:fld>
            <a:endParaRPr lang="pt-PT"/>
          </a:p>
        </p:txBody>
      </p:sp>
      <p:sp>
        <p:nvSpPr>
          <p:cNvPr id="5" name="CaixaDeTexto 4">
            <a:extLst>
              <a:ext uri="{FF2B5EF4-FFF2-40B4-BE49-F238E27FC236}">
                <a16:creationId xmlns:a16="http://schemas.microsoft.com/office/drawing/2014/main" id="{A6153F9F-BBA0-41E2-B776-01E93DCBB9D3}"/>
              </a:ext>
            </a:extLst>
          </p:cNvPr>
          <p:cNvSpPr txBox="1"/>
          <p:nvPr/>
        </p:nvSpPr>
        <p:spPr>
          <a:xfrm>
            <a:off x="838200" y="1696414"/>
            <a:ext cx="10150868" cy="2677656"/>
          </a:xfrm>
          <a:prstGeom prst="rect">
            <a:avLst/>
          </a:prstGeom>
          <a:noFill/>
        </p:spPr>
        <p:txBody>
          <a:bodyPr wrap="square" rtlCol="0">
            <a:spAutoFit/>
          </a:bodyPr>
          <a:lstStyle/>
          <a:p>
            <a:pPr marL="285750" indent="-285750">
              <a:buFont typeface="Arial" panose="020B0604020202020204" pitchFamily="34" charset="0"/>
              <a:buChar char="•"/>
            </a:pP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The adoption of the </a:t>
            </a:r>
            <a:r>
              <a:rPr lang="en-US" sz="2400" dirty="0" err="1">
                <a:effectLst/>
                <a:latin typeface="Times New Roman" panose="02020603050405020304" pitchFamily="18" charset="0"/>
                <a:ea typeface="SimSun" panose="02010600030101010101" pitchFamily="2" charset="-122"/>
                <a:cs typeface="Times New Roman" panose="02020603050405020304" pitchFamily="18" charset="0"/>
              </a:rPr>
              <a:t>ITLingo</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RSL language to rigorously define software sustainability requirements. </a:t>
            </a:r>
            <a:r>
              <a:rPr lang="en-US" sz="2400" b="1" dirty="0">
                <a:effectLst/>
                <a:latin typeface="Times New Roman" panose="02020603050405020304" pitchFamily="18" charset="0"/>
                <a:ea typeface="SimSun" panose="02010600030101010101" pitchFamily="2" charset="-122"/>
                <a:cs typeface="Times New Roman" panose="02020603050405020304" pitchFamily="18" charset="0"/>
              </a:rPr>
              <a:t>RSL</a:t>
            </a:r>
            <a:r>
              <a:rPr lang="en-US" sz="2400" dirty="0">
                <a:effectLst/>
                <a:latin typeface="Times New Roman" panose="02020603050405020304" pitchFamily="18" charset="0"/>
                <a:ea typeface="SimSun" panose="02010600030101010101" pitchFamily="2" charset="-122"/>
                <a:cs typeface="Times New Roman" panose="02020603050405020304" pitchFamily="18" charset="0"/>
              </a:rPr>
              <a:t> is a controlled natural language that helps the specification of requirements and tests in a systematic and rigorous way.</a:t>
            </a:r>
          </a:p>
          <a:p>
            <a:pPr marL="285750" indent="-285750">
              <a:buFont typeface="Arial" panose="020B0604020202020204" pitchFamily="34" charset="0"/>
              <a:buChar char="•"/>
            </a:pPr>
            <a:endParaRPr lang="en-US" sz="2400" dirty="0">
              <a:latin typeface="Times New Roman" panose="02020603050405020304" pitchFamily="18" charset="0"/>
              <a:ea typeface="SimSun" panose="02010600030101010101" pitchFamily="2" charset="-122"/>
              <a:cs typeface="Times New Roman" panose="02020603050405020304" pitchFamily="18" charset="0"/>
            </a:endParaRPr>
          </a:p>
          <a:p>
            <a:pPr marL="285750" indent="-285750">
              <a:buFont typeface="Arial" panose="020B0604020202020204" pitchFamily="34" charset="0"/>
              <a:buChar char="•"/>
            </a:pPr>
            <a:r>
              <a:rPr lang="pt-PT" sz="2400" dirty="0" err="1">
                <a:latin typeface="Times New Roman" panose="02020603050405020304" pitchFamily="18" charset="0"/>
                <a:cs typeface="Times New Roman" panose="02020603050405020304" pitchFamily="18" charset="0"/>
              </a:rPr>
              <a:t>Identification</a:t>
            </a:r>
            <a:r>
              <a:rPr lang="pt-PT" sz="2400" dirty="0">
                <a:latin typeface="Times New Roman" panose="02020603050405020304" pitchFamily="18" charset="0"/>
                <a:cs typeface="Times New Roman" panose="02020603050405020304" pitchFamily="18" charset="0"/>
              </a:rPr>
              <a:t> </a:t>
            </a:r>
            <a:r>
              <a:rPr lang="pt-PT" sz="2400" dirty="0" err="1">
                <a:latin typeface="Times New Roman" panose="02020603050405020304" pitchFamily="18" charset="0"/>
                <a:cs typeface="Times New Roman" panose="02020603050405020304" pitchFamily="18" charset="0"/>
              </a:rPr>
              <a:t>of</a:t>
            </a:r>
            <a:r>
              <a:rPr lang="pt-PT" sz="2400" dirty="0">
                <a:latin typeface="Times New Roman" panose="02020603050405020304" pitchFamily="18" charset="0"/>
                <a:cs typeface="Times New Roman" panose="02020603050405020304" pitchFamily="18" charset="0"/>
              </a:rPr>
              <a:t> </a:t>
            </a:r>
            <a:r>
              <a:rPr lang="pt-PT" sz="2400" b="1" dirty="0" err="1">
                <a:solidFill>
                  <a:schemeClr val="accent1">
                    <a:lumMod val="75000"/>
                  </a:schemeClr>
                </a:solidFill>
                <a:latin typeface="Times New Roman" panose="02020603050405020304" pitchFamily="18" charset="0"/>
                <a:cs typeface="Times New Roman" panose="02020603050405020304" pitchFamily="18" charset="0"/>
              </a:rPr>
              <a:t>Vulnerabilities</a:t>
            </a:r>
            <a:r>
              <a:rPr lang="pt-PT" sz="2400" dirty="0">
                <a:latin typeface="Times New Roman" panose="02020603050405020304" pitchFamily="18" charset="0"/>
                <a:cs typeface="Times New Roman" panose="02020603050405020304" pitchFamily="18" charset="0"/>
              </a:rPr>
              <a:t> </a:t>
            </a:r>
            <a:r>
              <a:rPr lang="pt-PT" sz="2400" dirty="0" err="1">
                <a:latin typeface="Times New Roman" panose="02020603050405020304" pitchFamily="18" charset="0"/>
                <a:cs typeface="Times New Roman" panose="02020603050405020304" pitchFamily="18" charset="0"/>
              </a:rPr>
              <a:t>and</a:t>
            </a:r>
            <a:r>
              <a:rPr lang="pt-PT" sz="2400" dirty="0">
                <a:latin typeface="Times New Roman" panose="02020603050405020304" pitchFamily="18" charset="0"/>
                <a:cs typeface="Times New Roman" panose="02020603050405020304" pitchFamily="18" charset="0"/>
              </a:rPr>
              <a:t> </a:t>
            </a:r>
            <a:r>
              <a:rPr lang="pt-PT" sz="2400" b="1" dirty="0" err="1">
                <a:solidFill>
                  <a:schemeClr val="accent2">
                    <a:lumMod val="75000"/>
                  </a:schemeClr>
                </a:solidFill>
                <a:latin typeface="Times New Roman" panose="02020603050405020304" pitchFamily="18" charset="0"/>
                <a:cs typeface="Times New Roman" panose="02020603050405020304" pitchFamily="18" charset="0"/>
              </a:rPr>
              <a:t>Goals</a:t>
            </a:r>
            <a:r>
              <a:rPr lang="pt-PT" sz="2400" dirty="0">
                <a:latin typeface="Times New Roman" panose="02020603050405020304" pitchFamily="18" charset="0"/>
                <a:cs typeface="Times New Roman" panose="02020603050405020304" pitchFamily="18" charset="0"/>
              </a:rPr>
              <a:t> for </a:t>
            </a:r>
            <a:r>
              <a:rPr lang="pt-PT" sz="2400" b="1" dirty="0">
                <a:solidFill>
                  <a:schemeClr val="accent6">
                    <a:lumMod val="75000"/>
                  </a:schemeClr>
                </a:solidFill>
                <a:latin typeface="Times New Roman" panose="02020603050405020304" pitchFamily="18" charset="0"/>
                <a:cs typeface="Times New Roman" panose="02020603050405020304" pitchFamily="18" charset="0"/>
              </a:rPr>
              <a:t>Software </a:t>
            </a:r>
            <a:r>
              <a:rPr lang="pt-PT" sz="2400" b="1" dirty="0" err="1">
                <a:solidFill>
                  <a:schemeClr val="accent6">
                    <a:lumMod val="75000"/>
                  </a:schemeClr>
                </a:solidFill>
                <a:latin typeface="Times New Roman" panose="02020603050405020304" pitchFamily="18" charset="0"/>
                <a:cs typeface="Times New Roman" panose="02020603050405020304" pitchFamily="18" charset="0"/>
              </a:rPr>
              <a:t>Sustainability</a:t>
            </a:r>
            <a:r>
              <a:rPr lang="pt-PT" sz="24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pt-PT"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pt-PT" sz="2400" dirty="0" err="1">
                <a:latin typeface="Times New Roman" panose="02020603050405020304" pitchFamily="18" charset="0"/>
                <a:cs typeface="Times New Roman" panose="02020603050405020304" pitchFamily="18" charset="0"/>
              </a:rPr>
              <a:t>Identification</a:t>
            </a:r>
            <a:r>
              <a:rPr lang="pt-PT" sz="2400" dirty="0">
                <a:latin typeface="Times New Roman" panose="02020603050405020304" pitchFamily="18" charset="0"/>
                <a:cs typeface="Times New Roman" panose="02020603050405020304" pitchFamily="18" charset="0"/>
              </a:rPr>
              <a:t> </a:t>
            </a:r>
            <a:r>
              <a:rPr lang="pt-PT" sz="2400" dirty="0" err="1">
                <a:latin typeface="Times New Roman" panose="02020603050405020304" pitchFamily="18" charset="0"/>
                <a:cs typeface="Times New Roman" panose="02020603050405020304" pitchFamily="18" charset="0"/>
              </a:rPr>
              <a:t>of</a:t>
            </a:r>
            <a:r>
              <a:rPr lang="pt-PT" sz="2400" dirty="0">
                <a:latin typeface="Times New Roman" panose="02020603050405020304" pitchFamily="18" charset="0"/>
                <a:cs typeface="Times New Roman" panose="02020603050405020304" pitchFamily="18" charset="0"/>
              </a:rPr>
              <a:t> </a:t>
            </a:r>
            <a:r>
              <a:rPr lang="pt-PT" sz="2400" dirty="0">
                <a:solidFill>
                  <a:srgbClr val="00B050"/>
                </a:solidFill>
                <a:latin typeface="Times New Roman" panose="02020603050405020304" pitchFamily="18" charset="0"/>
                <a:cs typeface="Times New Roman" panose="02020603050405020304" pitchFamily="18" charset="0"/>
              </a:rPr>
              <a:t>Future </a:t>
            </a:r>
            <a:r>
              <a:rPr lang="pt-PT" sz="2400" dirty="0" err="1">
                <a:solidFill>
                  <a:srgbClr val="00B050"/>
                </a:solidFill>
                <a:latin typeface="Times New Roman" panose="02020603050405020304" pitchFamily="18" charset="0"/>
                <a:cs typeface="Times New Roman" panose="02020603050405020304" pitchFamily="18" charset="0"/>
              </a:rPr>
              <a:t>Work</a:t>
            </a:r>
            <a:r>
              <a:rPr lang="pt-PT"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065471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038AE6-AA62-4B76-A885-E85AAFB9A2CB}"/>
              </a:ext>
            </a:extLst>
          </p:cNvPr>
          <p:cNvSpPr>
            <a:spLocks noGrp="1"/>
          </p:cNvSpPr>
          <p:nvPr>
            <p:ph type="title"/>
          </p:nvPr>
        </p:nvSpPr>
        <p:spPr/>
        <p:txBody>
          <a:bodyPr/>
          <a:lstStyle/>
          <a:p>
            <a:r>
              <a:rPr lang="pt-PT" dirty="0" err="1"/>
              <a:t>Vulnerabilities</a:t>
            </a:r>
            <a:r>
              <a:rPr lang="pt-PT" dirty="0"/>
              <a:t> </a:t>
            </a:r>
            <a:r>
              <a:rPr lang="pt-PT" dirty="0" err="1"/>
              <a:t>and</a:t>
            </a:r>
            <a:r>
              <a:rPr lang="pt-PT" dirty="0"/>
              <a:t> </a:t>
            </a:r>
            <a:r>
              <a:rPr lang="pt-PT" dirty="0" err="1"/>
              <a:t>Goals</a:t>
            </a:r>
            <a:endParaRPr lang="pt-PT" dirty="0"/>
          </a:p>
        </p:txBody>
      </p:sp>
      <p:sp>
        <p:nvSpPr>
          <p:cNvPr id="3" name="Marcador de Posição do Rodapé 2">
            <a:extLst>
              <a:ext uri="{FF2B5EF4-FFF2-40B4-BE49-F238E27FC236}">
                <a16:creationId xmlns:a16="http://schemas.microsoft.com/office/drawing/2014/main" id="{624C7F44-9E16-4DBD-9CCD-D6CB0DCF2F80}"/>
              </a:ext>
            </a:extLst>
          </p:cNvPr>
          <p:cNvSpPr>
            <a:spLocks noGrp="1"/>
          </p:cNvSpPr>
          <p:nvPr>
            <p:ph type="ftr" sz="quarter" idx="11"/>
          </p:nvPr>
        </p:nvSpPr>
        <p:spPr/>
        <p:txBody>
          <a:bodyPr/>
          <a:lstStyle/>
          <a:p>
            <a:r>
              <a:rPr lang="pt-PT"/>
              <a:t>RE4SuSY 2020</a:t>
            </a:r>
          </a:p>
        </p:txBody>
      </p:sp>
      <p:sp>
        <p:nvSpPr>
          <p:cNvPr id="4" name="Marcador de Posição do Número do Diapositivo 3">
            <a:extLst>
              <a:ext uri="{FF2B5EF4-FFF2-40B4-BE49-F238E27FC236}">
                <a16:creationId xmlns:a16="http://schemas.microsoft.com/office/drawing/2014/main" id="{776FA266-6512-4087-8F08-B2420CF33B16}"/>
              </a:ext>
            </a:extLst>
          </p:cNvPr>
          <p:cNvSpPr>
            <a:spLocks noGrp="1"/>
          </p:cNvSpPr>
          <p:nvPr>
            <p:ph type="sldNum" sz="quarter" idx="12"/>
          </p:nvPr>
        </p:nvSpPr>
        <p:spPr/>
        <p:txBody>
          <a:bodyPr/>
          <a:lstStyle/>
          <a:p>
            <a:fld id="{36C2C8C4-90B5-4523-B1E5-1120D41CAE7D}" type="slidenum">
              <a:rPr lang="pt-PT" smtClean="0"/>
              <a:t>6</a:t>
            </a:fld>
            <a:endParaRPr lang="pt-PT"/>
          </a:p>
        </p:txBody>
      </p:sp>
      <p:sp>
        <p:nvSpPr>
          <p:cNvPr id="5" name="CaixaDeTexto 4">
            <a:extLst>
              <a:ext uri="{FF2B5EF4-FFF2-40B4-BE49-F238E27FC236}">
                <a16:creationId xmlns:a16="http://schemas.microsoft.com/office/drawing/2014/main" id="{4FE29FD2-5E51-4629-8EBE-F7EF44EAF96B}"/>
              </a:ext>
            </a:extLst>
          </p:cNvPr>
          <p:cNvSpPr txBox="1"/>
          <p:nvPr/>
        </p:nvSpPr>
        <p:spPr>
          <a:xfrm>
            <a:off x="838201" y="1690688"/>
            <a:ext cx="10740774" cy="4093428"/>
          </a:xfrm>
          <a:prstGeom prst="rect">
            <a:avLst/>
          </a:prstGeom>
          <a:noFill/>
        </p:spPr>
        <p:txBody>
          <a:bodyPr wrap="square" rtlCol="0">
            <a:spAutoFit/>
          </a:bodyPr>
          <a:lstStyle/>
          <a:p>
            <a:r>
              <a:rPr lang="en-US" sz="2000" dirty="0">
                <a:effectLst/>
                <a:latin typeface="Times New Roman" panose="02020603050405020304" pitchFamily="18" charset="0"/>
                <a:ea typeface="SimSun" panose="02010600030101010101" pitchFamily="2" charset="-122"/>
              </a:rPr>
              <a:t>A </a:t>
            </a:r>
            <a:r>
              <a:rPr lang="en-US" sz="2000" b="1" dirty="0">
                <a:solidFill>
                  <a:schemeClr val="accent1">
                    <a:lumMod val="75000"/>
                  </a:schemeClr>
                </a:solidFill>
                <a:effectLst/>
                <a:latin typeface="Times New Roman" panose="02020603050405020304" pitchFamily="18" charset="0"/>
                <a:ea typeface="SimSun" panose="02010600030101010101" pitchFamily="2" charset="-122"/>
              </a:rPr>
              <a:t>vulnerability</a:t>
            </a:r>
            <a:r>
              <a:rPr lang="en-US" sz="2000" dirty="0">
                <a:effectLst/>
                <a:latin typeface="Times New Roman" panose="02020603050405020304" pitchFamily="18" charset="0"/>
                <a:ea typeface="SimSun" panose="02010600030101010101" pitchFamily="2" charset="-122"/>
              </a:rPr>
              <a:t> is a flaw in the system under consideration [54]. We present here vulnerabilities identified based on the work by Imran and </a:t>
            </a:r>
            <a:r>
              <a:rPr lang="en-US" sz="2000" dirty="0" err="1">
                <a:effectLst/>
                <a:latin typeface="Times New Roman" panose="02020603050405020304" pitchFamily="18" charset="0"/>
                <a:ea typeface="SimSun" panose="02010600030101010101" pitchFamily="2" charset="-122"/>
              </a:rPr>
              <a:t>Kosar</a:t>
            </a:r>
            <a:r>
              <a:rPr lang="en-US" sz="2000" dirty="0">
                <a:effectLst/>
                <a:latin typeface="Times New Roman" panose="02020603050405020304" pitchFamily="18" charset="0"/>
                <a:ea typeface="SimSun" panose="02010600030101010101" pitchFamily="2" charset="-122"/>
              </a:rPr>
              <a:t> [2].</a:t>
            </a:r>
            <a:endParaRPr lang="en-US" sz="2000" dirty="0">
              <a:latin typeface="Times New Roman" panose="02020603050405020304" pitchFamily="18" charset="0"/>
              <a:ea typeface="SimSun" panose="02010600030101010101" pitchFamily="2" charset="-122"/>
            </a:endParaRPr>
          </a:p>
          <a:p>
            <a:endParaRPr lang="en-US" sz="2000" dirty="0">
              <a:latin typeface="Times New Roman" panose="02020603050405020304" pitchFamily="18" charset="0"/>
              <a:ea typeface="SimSun" panose="02010600030101010101" pitchFamily="2" charset="-122"/>
            </a:endParaRPr>
          </a:p>
          <a:p>
            <a:pPr lvl="1"/>
            <a:r>
              <a:rPr lang="en-US" sz="2000" i="1" dirty="0">
                <a:latin typeface="Times New Roman" panose="02020603050405020304" pitchFamily="18" charset="0"/>
                <a:ea typeface="SimSun" panose="02010600030101010101" pitchFamily="2" charset="-122"/>
              </a:rPr>
              <a:t>Vulnerabilities are classified as </a:t>
            </a:r>
            <a:r>
              <a:rPr lang="en-US" sz="2000" i="1" dirty="0">
                <a:effectLst/>
                <a:latin typeface="Times New Roman" panose="02020603050405020304" pitchFamily="18" charset="0"/>
                <a:ea typeface="SimSun" panose="02010600030101010101" pitchFamily="2" charset="-122"/>
              </a:rPr>
              <a:t>(1) </a:t>
            </a:r>
            <a:r>
              <a:rPr lang="en-US" sz="2000" b="1" i="1" dirty="0">
                <a:effectLst/>
                <a:latin typeface="Times New Roman" panose="02020603050405020304" pitchFamily="18" charset="0"/>
                <a:ea typeface="SimSun" panose="02010600030101010101" pitchFamily="2" charset="-122"/>
              </a:rPr>
              <a:t>technical</a:t>
            </a:r>
            <a:r>
              <a:rPr lang="en-US" sz="2000" i="1" dirty="0">
                <a:effectLst/>
                <a:latin typeface="Times New Roman" panose="02020603050405020304" pitchFamily="18" charset="0"/>
                <a:ea typeface="SimSun" panose="02010600030101010101" pitchFamily="2" charset="-122"/>
              </a:rPr>
              <a:t> vulnerabilities such as </a:t>
            </a:r>
            <a:r>
              <a:rPr lang="en-US" sz="2000" b="1" i="1" dirty="0">
                <a:effectLst/>
                <a:latin typeface="Times New Roman" panose="02020603050405020304" pitchFamily="18" charset="0"/>
                <a:ea typeface="SimSun" panose="02010600030101010101" pitchFamily="2" charset="-122"/>
              </a:rPr>
              <a:t>(a)</a:t>
            </a:r>
            <a:r>
              <a:rPr lang="en-US" sz="2000" i="1" dirty="0">
                <a:effectLst/>
                <a:latin typeface="Times New Roman" panose="02020603050405020304" pitchFamily="18" charset="0"/>
                <a:ea typeface="SimSun" panose="02010600030101010101" pitchFamily="2" charset="-122"/>
              </a:rPr>
              <a:t> software design principles; </a:t>
            </a:r>
            <a:r>
              <a:rPr lang="en-US" sz="2000" b="1" i="1" dirty="0">
                <a:effectLst/>
                <a:latin typeface="Times New Roman" panose="02020603050405020304" pitchFamily="18" charset="0"/>
                <a:ea typeface="SimSun" panose="02010600030101010101" pitchFamily="2" charset="-122"/>
              </a:rPr>
              <a:t>(b)</a:t>
            </a:r>
            <a:r>
              <a:rPr lang="en-US" sz="2000" i="1" dirty="0">
                <a:effectLst/>
                <a:latin typeface="Times New Roman" panose="02020603050405020304" pitchFamily="18" charset="0"/>
                <a:ea typeface="SimSun" panose="02010600030101010101" pitchFamily="2" charset="-122"/>
              </a:rPr>
              <a:t> coding principles; </a:t>
            </a:r>
            <a:r>
              <a:rPr lang="en-US" sz="2000" b="1" i="1" dirty="0">
                <a:effectLst/>
                <a:latin typeface="Times New Roman" panose="02020603050405020304" pitchFamily="18" charset="0"/>
                <a:ea typeface="SimSun" panose="02010600030101010101" pitchFamily="2" charset="-122"/>
              </a:rPr>
              <a:t>(c)</a:t>
            </a:r>
            <a:r>
              <a:rPr lang="en-US" sz="2000" i="1" dirty="0">
                <a:effectLst/>
                <a:latin typeface="Times New Roman" panose="02020603050405020304" pitchFamily="18" charset="0"/>
                <a:ea typeface="SimSun" panose="02010600030101010101" pitchFamily="2" charset="-122"/>
              </a:rPr>
              <a:t> user experience and (2) </a:t>
            </a:r>
            <a:r>
              <a:rPr lang="en-US" sz="2000" b="1" i="1" dirty="0">
                <a:effectLst/>
                <a:latin typeface="Times New Roman" panose="02020603050405020304" pitchFamily="18" charset="0"/>
                <a:ea typeface="SimSun" panose="02010600030101010101" pitchFamily="2" charset="-122"/>
              </a:rPr>
              <a:t>non-technical</a:t>
            </a:r>
            <a:r>
              <a:rPr lang="en-US" sz="2000" i="1" dirty="0">
                <a:effectLst/>
                <a:latin typeface="Times New Roman" panose="02020603050405020304" pitchFamily="18" charset="0"/>
                <a:ea typeface="SimSun" panose="02010600030101010101" pitchFamily="2" charset="-122"/>
              </a:rPr>
              <a:t> vulnerabilities such as </a:t>
            </a:r>
            <a:r>
              <a:rPr lang="en-US" sz="2000" b="1" i="1" dirty="0">
                <a:effectLst/>
                <a:latin typeface="Times New Roman" panose="02020603050405020304" pitchFamily="18" charset="0"/>
                <a:ea typeface="SimSun" panose="02010600030101010101" pitchFamily="2" charset="-122"/>
              </a:rPr>
              <a:t>(d)</a:t>
            </a:r>
            <a:r>
              <a:rPr lang="en-US" sz="2000" i="1" dirty="0">
                <a:effectLst/>
                <a:latin typeface="Times New Roman" panose="02020603050405020304" pitchFamily="18" charset="0"/>
                <a:ea typeface="SimSun" panose="02010600030101010101" pitchFamily="2" charset="-122"/>
              </a:rPr>
              <a:t> operational support.</a:t>
            </a:r>
            <a:endParaRPr lang="en-US" sz="2000" i="1" dirty="0">
              <a:latin typeface="Times New Roman" panose="02020603050405020304" pitchFamily="18" charset="0"/>
              <a:ea typeface="SimSun" panose="02010600030101010101" pitchFamily="2" charset="-122"/>
            </a:endParaRPr>
          </a:p>
          <a:p>
            <a:endParaRPr lang="en-US" sz="2000" dirty="0">
              <a:latin typeface="Times New Roman" panose="02020603050405020304" pitchFamily="18" charset="0"/>
              <a:ea typeface="SimSun" panose="02010600030101010101" pitchFamily="2" charset="-122"/>
            </a:endParaRPr>
          </a:p>
          <a:p>
            <a:r>
              <a:rPr lang="en-US" sz="2000" spc="-5" dirty="0">
                <a:effectLst/>
                <a:latin typeface="Times New Roman" panose="02020603050405020304" pitchFamily="18" charset="0"/>
                <a:ea typeface="SimSun" panose="02010600030101010101" pitchFamily="2" charset="-122"/>
              </a:rPr>
              <a:t>We capture and define </a:t>
            </a:r>
            <a:r>
              <a:rPr lang="en-US" sz="2000" b="1" spc="-5" dirty="0">
                <a:solidFill>
                  <a:schemeClr val="accent4">
                    <a:lumMod val="75000"/>
                  </a:schemeClr>
                </a:solidFill>
                <a:effectLst/>
                <a:latin typeface="Times New Roman" panose="02020603050405020304" pitchFamily="18" charset="0"/>
                <a:ea typeface="SimSun" panose="02010600030101010101" pitchFamily="2" charset="-122"/>
              </a:rPr>
              <a:t>goals</a:t>
            </a:r>
            <a:r>
              <a:rPr lang="en-US" sz="2000" spc="-5" dirty="0">
                <a:effectLst/>
                <a:latin typeface="Times New Roman" panose="02020603050405020304" pitchFamily="18" charset="0"/>
                <a:ea typeface="SimSun" panose="02010600030101010101" pitchFamily="2" charset="-122"/>
              </a:rPr>
              <a:t> for sustainable software, considering the work by Imran and </a:t>
            </a:r>
            <a:r>
              <a:rPr lang="en-US" sz="2000" spc="-5" dirty="0" err="1">
                <a:effectLst/>
                <a:latin typeface="Times New Roman" panose="02020603050405020304" pitchFamily="18" charset="0"/>
                <a:ea typeface="SimSun" panose="02010600030101010101" pitchFamily="2" charset="-122"/>
              </a:rPr>
              <a:t>Kosar</a:t>
            </a:r>
            <a:r>
              <a:rPr lang="en-US" sz="2000" spc="-5" dirty="0">
                <a:effectLst/>
                <a:latin typeface="Times New Roman" panose="02020603050405020304" pitchFamily="18" charset="0"/>
                <a:ea typeface="SimSun" panose="02010600030101010101" pitchFamily="2" charset="-122"/>
              </a:rPr>
              <a:t> [2] and by Ahmad et al. [65]. </a:t>
            </a:r>
          </a:p>
          <a:p>
            <a:endParaRPr lang="en-US" sz="2000" spc="-5" dirty="0">
              <a:effectLst/>
              <a:latin typeface="Times New Roman" panose="02020603050405020304" pitchFamily="18" charset="0"/>
              <a:ea typeface="SimSun" panose="02010600030101010101" pitchFamily="2" charset="-122"/>
            </a:endParaRPr>
          </a:p>
          <a:p>
            <a:pPr lvl="1"/>
            <a:r>
              <a:rPr lang="en-US" sz="2000" i="1" spc="-5" dirty="0">
                <a:effectLst/>
                <a:latin typeface="Times New Roman" panose="02020603050405020304" pitchFamily="18" charset="0"/>
                <a:ea typeface="SimSun" panose="02010600030101010101" pitchFamily="2" charset="-122"/>
              </a:rPr>
              <a:t>General goals are classified as </a:t>
            </a:r>
            <a:r>
              <a:rPr lang="en-US" sz="2000" b="1" i="1" spc="-5" dirty="0">
                <a:effectLst/>
                <a:latin typeface="Times New Roman" panose="02020603050405020304" pitchFamily="18" charset="0"/>
                <a:ea typeface="SimSun" panose="02010600030101010101" pitchFamily="2" charset="-122"/>
              </a:rPr>
              <a:t>quality properties</a:t>
            </a:r>
            <a:r>
              <a:rPr lang="en-US" sz="2000" i="1" spc="-5" dirty="0">
                <a:effectLst/>
                <a:latin typeface="Times New Roman" panose="02020603050405020304" pitchFamily="18" charset="0"/>
                <a:ea typeface="SimSun" panose="02010600030101010101" pitchFamily="2" charset="-122"/>
              </a:rPr>
              <a:t> like performance, maintainability, usability, etc. [</a:t>
            </a:r>
            <a:r>
              <a:rPr lang="en-GB" sz="2000" i="1" spc="-5" dirty="0">
                <a:solidFill>
                  <a:srgbClr val="000000"/>
                </a:solidFill>
                <a:effectLst/>
                <a:latin typeface="Times New Roman" panose="02020603050405020304" pitchFamily="18" charset="0"/>
                <a:ea typeface="Times New Roman" panose="02020603050405020304" pitchFamily="18" charset="0"/>
              </a:rPr>
              <a:t>40].</a:t>
            </a:r>
            <a:endParaRPr lang="pt-PT" sz="2000" i="1" spc="-5" dirty="0">
              <a:effectLst/>
              <a:latin typeface="Times New Roman" panose="02020603050405020304" pitchFamily="18" charset="0"/>
              <a:ea typeface="SimSun" panose="02010600030101010101" pitchFamily="2" charset="-122"/>
            </a:endParaRPr>
          </a:p>
          <a:p>
            <a:endParaRPr lang="pt-PT" sz="2000" dirty="0"/>
          </a:p>
        </p:txBody>
      </p:sp>
    </p:spTree>
    <p:extLst>
      <p:ext uri="{BB962C8B-B14F-4D97-AF65-F5344CB8AC3E}">
        <p14:creationId xmlns:p14="http://schemas.microsoft.com/office/powerpoint/2010/main" val="3940819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038AE6-AA62-4B76-A885-E85AAFB9A2CB}"/>
              </a:ext>
            </a:extLst>
          </p:cNvPr>
          <p:cNvSpPr>
            <a:spLocks noGrp="1"/>
          </p:cNvSpPr>
          <p:nvPr>
            <p:ph type="title"/>
          </p:nvPr>
        </p:nvSpPr>
        <p:spPr/>
        <p:txBody>
          <a:bodyPr/>
          <a:lstStyle/>
          <a:p>
            <a:r>
              <a:rPr lang="pt-PT" b="1" dirty="0" err="1">
                <a:solidFill>
                  <a:schemeClr val="accent5">
                    <a:lumMod val="75000"/>
                  </a:schemeClr>
                </a:solidFill>
              </a:rPr>
              <a:t>Vulnerabilities</a:t>
            </a:r>
            <a:r>
              <a:rPr lang="pt-PT" dirty="0"/>
              <a:t>: software design </a:t>
            </a:r>
            <a:r>
              <a:rPr lang="pt-PT" dirty="0" err="1"/>
              <a:t>principles</a:t>
            </a:r>
            <a:endParaRPr lang="pt-PT" dirty="0"/>
          </a:p>
        </p:txBody>
      </p:sp>
      <p:sp>
        <p:nvSpPr>
          <p:cNvPr id="3" name="Marcador de Posição do Rodapé 2">
            <a:extLst>
              <a:ext uri="{FF2B5EF4-FFF2-40B4-BE49-F238E27FC236}">
                <a16:creationId xmlns:a16="http://schemas.microsoft.com/office/drawing/2014/main" id="{624C7F44-9E16-4DBD-9CCD-D6CB0DCF2F80}"/>
              </a:ext>
            </a:extLst>
          </p:cNvPr>
          <p:cNvSpPr>
            <a:spLocks noGrp="1"/>
          </p:cNvSpPr>
          <p:nvPr>
            <p:ph type="ftr" sz="quarter" idx="11"/>
          </p:nvPr>
        </p:nvSpPr>
        <p:spPr/>
        <p:txBody>
          <a:bodyPr/>
          <a:lstStyle/>
          <a:p>
            <a:r>
              <a:rPr lang="pt-PT"/>
              <a:t>RE4SuSY 2020</a:t>
            </a:r>
          </a:p>
        </p:txBody>
      </p:sp>
      <p:sp>
        <p:nvSpPr>
          <p:cNvPr id="4" name="Marcador de Posição do Número do Diapositivo 3">
            <a:extLst>
              <a:ext uri="{FF2B5EF4-FFF2-40B4-BE49-F238E27FC236}">
                <a16:creationId xmlns:a16="http://schemas.microsoft.com/office/drawing/2014/main" id="{776FA266-6512-4087-8F08-B2420CF33B16}"/>
              </a:ext>
            </a:extLst>
          </p:cNvPr>
          <p:cNvSpPr>
            <a:spLocks noGrp="1"/>
          </p:cNvSpPr>
          <p:nvPr>
            <p:ph type="sldNum" sz="quarter" idx="12"/>
          </p:nvPr>
        </p:nvSpPr>
        <p:spPr/>
        <p:txBody>
          <a:bodyPr/>
          <a:lstStyle/>
          <a:p>
            <a:fld id="{36C2C8C4-90B5-4523-B1E5-1120D41CAE7D}" type="slidenum">
              <a:rPr lang="pt-PT" smtClean="0"/>
              <a:t>7</a:t>
            </a:fld>
            <a:endParaRPr lang="pt-PT"/>
          </a:p>
        </p:txBody>
      </p:sp>
      <p:sp>
        <p:nvSpPr>
          <p:cNvPr id="5" name="CaixaDeTexto 4">
            <a:extLst>
              <a:ext uri="{FF2B5EF4-FFF2-40B4-BE49-F238E27FC236}">
                <a16:creationId xmlns:a16="http://schemas.microsoft.com/office/drawing/2014/main" id="{EE263E05-78AF-400F-92E3-321261B3A6D3}"/>
              </a:ext>
            </a:extLst>
          </p:cNvPr>
          <p:cNvSpPr txBox="1"/>
          <p:nvPr/>
        </p:nvSpPr>
        <p:spPr>
          <a:xfrm>
            <a:off x="838200" y="1690688"/>
            <a:ext cx="9733908" cy="4862870"/>
          </a:xfrm>
          <a:prstGeom prst="rect">
            <a:avLst/>
          </a:prstGeom>
          <a:noFill/>
        </p:spPr>
        <p:txBody>
          <a:bodyPr wrap="square" rtlCol="0">
            <a:spAutoFit/>
          </a:bodyPr>
          <a:lstStyle/>
          <a:p>
            <a:pPr marL="342900" lvl="0" indent="-342900" algn="just">
              <a:spcBef>
                <a:spcPts val="600"/>
              </a:spcBef>
              <a:spcAft>
                <a:spcPts val="0"/>
              </a:spcAft>
              <a:buFont typeface="Symbol" panose="05050102010706020507" pitchFamily="18" charset="2"/>
              <a:buChar char=""/>
            </a:pPr>
            <a:r>
              <a:rPr lang="en-US" sz="2000" b="1" dirty="0">
                <a:effectLst/>
                <a:latin typeface="Times New Roman" panose="02020603050405020304" pitchFamily="18" charset="0"/>
                <a:ea typeface="Times New Roman" panose="02020603050405020304" pitchFamily="18" charset="0"/>
              </a:rPr>
              <a:t>(V1) No change management process</a:t>
            </a:r>
            <a:r>
              <a:rPr lang="en-US" sz="2000" dirty="0">
                <a:effectLst/>
                <a:latin typeface="Times New Roman" panose="02020603050405020304" pitchFamily="18" charset="0"/>
                <a:ea typeface="Times New Roman" panose="02020603050405020304" pitchFamily="18" charset="0"/>
              </a:rPr>
              <a:t>. There is NO proper change management process and consequently there is NO effective sustainable adaptation during the product time life. </a:t>
            </a:r>
            <a:endParaRPr lang="pt-PT" sz="2000" dirty="0">
              <a:effectLst/>
              <a:latin typeface="Times New Roman" panose="02020603050405020304" pitchFamily="18" charset="0"/>
              <a:ea typeface="Times New Roman" panose="02020603050405020304" pitchFamily="18" charset="0"/>
            </a:endParaRPr>
          </a:p>
          <a:p>
            <a:pPr marL="342900" lvl="0" indent="-342900" algn="just">
              <a:spcBef>
                <a:spcPts val="600"/>
              </a:spcBef>
              <a:spcAft>
                <a:spcPts val="0"/>
              </a:spcAft>
              <a:buFont typeface="Symbol" panose="05050102010706020507" pitchFamily="18" charset="2"/>
              <a:buChar char=""/>
            </a:pPr>
            <a:r>
              <a:rPr lang="en-US" sz="2000" b="1" dirty="0">
                <a:effectLst/>
                <a:latin typeface="Times New Roman" panose="02020603050405020304" pitchFamily="18" charset="0"/>
                <a:ea typeface="Times New Roman" panose="02020603050405020304" pitchFamily="18" charset="0"/>
              </a:rPr>
              <a:t>(V2) No requirements prioritization</a:t>
            </a:r>
            <a:r>
              <a:rPr lang="en-US" sz="2000" dirty="0">
                <a:effectLst/>
                <a:latin typeface="Times New Roman" panose="02020603050405020304" pitchFamily="18" charset="0"/>
                <a:ea typeface="Times New Roman" panose="02020603050405020304" pitchFamily="18" charset="0"/>
              </a:rPr>
              <a:t>. There is NO effective requirement prioritization process, which means the most important sustainability requirements might be neglected.</a:t>
            </a:r>
          </a:p>
          <a:p>
            <a:pPr lvl="0" algn="just">
              <a:spcBef>
                <a:spcPts val="600"/>
              </a:spcBef>
              <a:spcAft>
                <a:spcPts val="0"/>
              </a:spcAft>
            </a:pPr>
            <a:r>
              <a:rPr lang="en-US" sz="2000" dirty="0">
                <a:effectLst/>
                <a:latin typeface="Times New Roman" panose="02020603050405020304" pitchFamily="18" charset="0"/>
                <a:ea typeface="Times New Roman" panose="02020603050405020304" pitchFamily="18" charset="0"/>
              </a:rPr>
              <a:t> </a:t>
            </a:r>
            <a:endParaRPr lang="pt-PT" sz="2000" dirty="0">
              <a:effectLst/>
              <a:latin typeface="Times New Roman" panose="02020603050405020304" pitchFamily="18" charset="0"/>
              <a:ea typeface="Times New Roman" panose="02020603050405020304" pitchFamily="18" charset="0"/>
            </a:endParaRPr>
          </a:p>
          <a:p>
            <a:pPr marL="342900" lvl="0" indent="-342900" algn="just">
              <a:spcBef>
                <a:spcPts val="600"/>
              </a:spcBef>
              <a:spcAft>
                <a:spcPts val="0"/>
              </a:spcAft>
              <a:buFont typeface="Symbol" panose="05050102010706020507" pitchFamily="18" charset="2"/>
              <a:buChar char=""/>
            </a:pPr>
            <a:r>
              <a:rPr lang="pt-PT" sz="2000" b="1" dirty="0">
                <a:effectLst/>
                <a:latin typeface="Times New Roman" panose="02020603050405020304" pitchFamily="18" charset="0"/>
                <a:ea typeface="Times New Roman" panose="02020603050405020304" pitchFamily="18" charset="0"/>
              </a:rPr>
              <a:t>(V3) No </a:t>
            </a:r>
            <a:r>
              <a:rPr lang="pt-PT" sz="2000" b="1" dirty="0" err="1">
                <a:effectLst/>
                <a:latin typeface="Times New Roman" panose="02020603050405020304" pitchFamily="18" charset="0"/>
                <a:ea typeface="Times New Roman" panose="02020603050405020304" pitchFamily="18" charset="0"/>
              </a:rPr>
              <a:t>possibility</a:t>
            </a:r>
            <a:r>
              <a:rPr lang="pt-PT" sz="2000" b="1" dirty="0">
                <a:effectLst/>
                <a:latin typeface="Times New Roman" panose="02020603050405020304" pitchFamily="18" charset="0"/>
                <a:ea typeface="Times New Roman" panose="02020603050405020304" pitchFamily="18" charset="0"/>
              </a:rPr>
              <a:t> to reuse </a:t>
            </a:r>
            <a:r>
              <a:rPr lang="pt-PT" sz="2000" b="1" dirty="0" err="1">
                <a:effectLst/>
                <a:latin typeface="Times New Roman" panose="02020603050405020304" pitchFamily="18" charset="0"/>
                <a:ea typeface="Times New Roman" panose="02020603050405020304" pitchFamily="18" charset="0"/>
              </a:rPr>
              <a:t>code</a:t>
            </a:r>
            <a:r>
              <a:rPr lang="pt-PT"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There is NO possibility to reuse code throughout the software development process. </a:t>
            </a:r>
            <a:endParaRPr lang="pt-PT" sz="2000" dirty="0">
              <a:effectLst/>
              <a:latin typeface="Times New Roman" panose="02020603050405020304" pitchFamily="18" charset="0"/>
              <a:ea typeface="Times New Roman" panose="02020603050405020304" pitchFamily="18" charset="0"/>
            </a:endParaRPr>
          </a:p>
          <a:p>
            <a:pPr marL="342900" lvl="0" indent="-342900" algn="just">
              <a:spcBef>
                <a:spcPts val="600"/>
              </a:spcBef>
              <a:spcAft>
                <a:spcPts val="0"/>
              </a:spcAft>
              <a:buFont typeface="Symbol" panose="05050102010706020507" pitchFamily="18" charset="2"/>
              <a:buChar char=""/>
            </a:pPr>
            <a:r>
              <a:rPr lang="en-US" sz="2000" b="1" dirty="0">
                <a:effectLst/>
                <a:latin typeface="Times New Roman" panose="02020603050405020304" pitchFamily="18" charset="0"/>
                <a:ea typeface="Times New Roman" panose="02020603050405020304" pitchFamily="18" charset="0"/>
              </a:rPr>
              <a:t>(V4) No security</a:t>
            </a:r>
            <a:r>
              <a:rPr lang="en-US" sz="2000" dirty="0">
                <a:effectLst/>
                <a:latin typeface="Times New Roman" panose="02020603050405020304" pitchFamily="18" charset="0"/>
                <a:ea typeface="Times New Roman" panose="02020603050405020304" pitchFamily="18" charset="0"/>
              </a:rPr>
              <a:t>. There is NO security concerns when designing and developing a software product.</a:t>
            </a:r>
          </a:p>
          <a:p>
            <a:pPr lvl="0" algn="just">
              <a:spcBef>
                <a:spcPts val="600"/>
              </a:spcBef>
              <a:spcAft>
                <a:spcPts val="0"/>
              </a:spcAft>
            </a:pPr>
            <a:r>
              <a:rPr lang="en-US" sz="2000" dirty="0">
                <a:effectLst/>
                <a:latin typeface="Times New Roman" panose="02020603050405020304" pitchFamily="18" charset="0"/>
                <a:ea typeface="Times New Roman" panose="02020603050405020304" pitchFamily="18" charset="0"/>
              </a:rPr>
              <a:t> </a:t>
            </a:r>
          </a:p>
          <a:p>
            <a:pPr marL="342900" lvl="0" indent="-342900" algn="just">
              <a:spcBef>
                <a:spcPts val="600"/>
              </a:spcBef>
              <a:spcAft>
                <a:spcPts val="0"/>
              </a:spcAft>
              <a:buFont typeface="Symbol" panose="05050102010706020507" pitchFamily="18" charset="2"/>
              <a:buChar char=""/>
            </a:pPr>
            <a:r>
              <a:rPr lang="en-US" sz="2000" b="1" dirty="0">
                <a:effectLst/>
                <a:latin typeface="Times New Roman" panose="02020603050405020304" pitchFamily="18" charset="0"/>
                <a:ea typeface="SimSun" panose="02010600030101010101" pitchFamily="2" charset="-122"/>
              </a:rPr>
              <a:t>(V5) No possible test of software product since the beginning of production</a:t>
            </a:r>
            <a:r>
              <a:rPr lang="en-US" sz="2000" dirty="0">
                <a:effectLst/>
                <a:latin typeface="Times New Roman" panose="02020603050405020304" pitchFamily="18" charset="0"/>
                <a:ea typeface="SimSun" panose="02010600030101010101" pitchFamily="2" charset="-122"/>
              </a:rPr>
              <a:t>. The software product is NOT available for use since the beginning of its life cycle. There is NO possibility to increase users’ loyalty and feedback because users cannot always experience the benefits of using the software.</a:t>
            </a:r>
            <a:endParaRPr lang="pt-PT" sz="2000" dirty="0"/>
          </a:p>
        </p:txBody>
      </p:sp>
    </p:spTree>
    <p:extLst>
      <p:ext uri="{BB962C8B-B14F-4D97-AF65-F5344CB8AC3E}">
        <p14:creationId xmlns:p14="http://schemas.microsoft.com/office/powerpoint/2010/main" val="2072903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038AE6-AA62-4B76-A885-E85AAFB9A2CB}"/>
              </a:ext>
            </a:extLst>
          </p:cNvPr>
          <p:cNvSpPr>
            <a:spLocks noGrp="1"/>
          </p:cNvSpPr>
          <p:nvPr>
            <p:ph type="title"/>
          </p:nvPr>
        </p:nvSpPr>
        <p:spPr/>
        <p:txBody>
          <a:bodyPr/>
          <a:lstStyle/>
          <a:p>
            <a:r>
              <a:rPr lang="pt-PT" b="1" dirty="0" err="1">
                <a:solidFill>
                  <a:schemeClr val="accent5">
                    <a:lumMod val="75000"/>
                  </a:schemeClr>
                </a:solidFill>
              </a:rPr>
              <a:t>Vulnerabilities</a:t>
            </a:r>
            <a:r>
              <a:rPr lang="pt-PT" dirty="0"/>
              <a:t>: </a:t>
            </a:r>
            <a:r>
              <a:rPr lang="pt-PT" dirty="0" err="1"/>
              <a:t>coding</a:t>
            </a:r>
            <a:r>
              <a:rPr lang="pt-PT" dirty="0"/>
              <a:t> </a:t>
            </a:r>
            <a:r>
              <a:rPr lang="pt-PT" dirty="0" err="1"/>
              <a:t>principles</a:t>
            </a:r>
            <a:endParaRPr lang="pt-PT" dirty="0"/>
          </a:p>
        </p:txBody>
      </p:sp>
      <p:sp>
        <p:nvSpPr>
          <p:cNvPr id="3" name="Marcador de Posição do Rodapé 2">
            <a:extLst>
              <a:ext uri="{FF2B5EF4-FFF2-40B4-BE49-F238E27FC236}">
                <a16:creationId xmlns:a16="http://schemas.microsoft.com/office/drawing/2014/main" id="{624C7F44-9E16-4DBD-9CCD-D6CB0DCF2F80}"/>
              </a:ext>
            </a:extLst>
          </p:cNvPr>
          <p:cNvSpPr>
            <a:spLocks noGrp="1"/>
          </p:cNvSpPr>
          <p:nvPr>
            <p:ph type="ftr" sz="quarter" idx="11"/>
          </p:nvPr>
        </p:nvSpPr>
        <p:spPr/>
        <p:txBody>
          <a:bodyPr/>
          <a:lstStyle/>
          <a:p>
            <a:r>
              <a:rPr lang="pt-PT"/>
              <a:t>RE4SuSY 2020</a:t>
            </a:r>
          </a:p>
        </p:txBody>
      </p:sp>
      <p:sp>
        <p:nvSpPr>
          <p:cNvPr id="4" name="Marcador de Posição do Número do Diapositivo 3">
            <a:extLst>
              <a:ext uri="{FF2B5EF4-FFF2-40B4-BE49-F238E27FC236}">
                <a16:creationId xmlns:a16="http://schemas.microsoft.com/office/drawing/2014/main" id="{776FA266-6512-4087-8F08-B2420CF33B16}"/>
              </a:ext>
            </a:extLst>
          </p:cNvPr>
          <p:cNvSpPr>
            <a:spLocks noGrp="1"/>
          </p:cNvSpPr>
          <p:nvPr>
            <p:ph type="sldNum" sz="quarter" idx="12"/>
          </p:nvPr>
        </p:nvSpPr>
        <p:spPr/>
        <p:txBody>
          <a:bodyPr/>
          <a:lstStyle/>
          <a:p>
            <a:fld id="{36C2C8C4-90B5-4523-B1E5-1120D41CAE7D}" type="slidenum">
              <a:rPr lang="pt-PT" smtClean="0"/>
              <a:t>8</a:t>
            </a:fld>
            <a:endParaRPr lang="pt-PT"/>
          </a:p>
        </p:txBody>
      </p:sp>
      <p:sp>
        <p:nvSpPr>
          <p:cNvPr id="5" name="CaixaDeTexto 4">
            <a:extLst>
              <a:ext uri="{FF2B5EF4-FFF2-40B4-BE49-F238E27FC236}">
                <a16:creationId xmlns:a16="http://schemas.microsoft.com/office/drawing/2014/main" id="{C934201F-3E53-4600-9305-44C1EA76399F}"/>
              </a:ext>
            </a:extLst>
          </p:cNvPr>
          <p:cNvSpPr txBox="1"/>
          <p:nvPr/>
        </p:nvSpPr>
        <p:spPr>
          <a:xfrm>
            <a:off x="945222" y="1571946"/>
            <a:ext cx="10408578" cy="3785652"/>
          </a:xfrm>
          <a:prstGeom prst="rect">
            <a:avLst/>
          </a:prstGeom>
          <a:noFill/>
        </p:spPr>
        <p:txBody>
          <a:bodyPr wrap="square" rtlCol="0">
            <a:spAutoFit/>
          </a:bodyPr>
          <a:lstStyle/>
          <a:p>
            <a:pPr marL="342900" lvl="0" indent="-342900" algn="just">
              <a:spcBef>
                <a:spcPts val="600"/>
              </a:spcBef>
              <a:spcAft>
                <a:spcPts val="0"/>
              </a:spcAft>
              <a:buFont typeface="Symbol" panose="05050102010706020507" pitchFamily="18" charset="2"/>
              <a:buChar char=""/>
            </a:pPr>
            <a:r>
              <a:rPr lang="en-US" sz="2000" b="1" dirty="0">
                <a:effectLst/>
                <a:latin typeface="Times New Roman" panose="02020603050405020304" pitchFamily="18" charset="0"/>
                <a:ea typeface="Times New Roman" panose="02020603050405020304" pitchFamily="18" charset="0"/>
              </a:rPr>
              <a:t>(V6) No refactoring possibilities.</a:t>
            </a:r>
            <a:r>
              <a:rPr lang="en-US" sz="2000" dirty="0">
                <a:effectLst/>
                <a:latin typeface="Times New Roman" panose="02020603050405020304" pitchFamily="18" charset="0"/>
                <a:ea typeface="Times New Roman" panose="02020603050405020304" pitchFamily="18" charset="0"/>
              </a:rPr>
              <a:t> There is NO tools and features to reuse old code and recreate software, consequently refactoring activities are much more difficult if not impossible.</a:t>
            </a:r>
            <a:endParaRPr lang="pt-PT" sz="2000" dirty="0">
              <a:effectLst/>
              <a:latin typeface="Times New Roman" panose="02020603050405020304" pitchFamily="18" charset="0"/>
              <a:ea typeface="Times New Roman" panose="02020603050405020304" pitchFamily="18" charset="0"/>
            </a:endParaRPr>
          </a:p>
          <a:p>
            <a:pPr marL="342900" lvl="0" indent="-342900" algn="just">
              <a:spcBef>
                <a:spcPts val="600"/>
              </a:spcBef>
              <a:spcAft>
                <a:spcPts val="0"/>
              </a:spcAft>
              <a:buFont typeface="Symbol" panose="05050102010706020507" pitchFamily="18" charset="2"/>
              <a:buChar char=""/>
            </a:pPr>
            <a:r>
              <a:rPr lang="en-US" sz="2000" b="1" dirty="0">
                <a:effectLst/>
                <a:latin typeface="Times New Roman" panose="02020603050405020304" pitchFamily="18" charset="0"/>
                <a:ea typeface="Times New Roman" panose="02020603050405020304" pitchFamily="18" charset="0"/>
              </a:rPr>
              <a:t>(V7) No coding standards.</a:t>
            </a:r>
            <a:r>
              <a:rPr lang="en-US" sz="2000" dirty="0">
                <a:effectLst/>
                <a:latin typeface="Times New Roman" panose="02020603050405020304" pitchFamily="18" charset="0"/>
                <a:ea typeface="Times New Roman" panose="02020603050405020304" pitchFamily="18" charset="0"/>
              </a:rPr>
              <a:t> Because there are NO coding standards for writing software, the development team has difficulties to present results in a coherent way.</a:t>
            </a:r>
            <a:endParaRPr lang="pt-PT" sz="2000" dirty="0">
              <a:effectLst/>
              <a:latin typeface="Times New Roman" panose="02020603050405020304" pitchFamily="18" charset="0"/>
              <a:ea typeface="Times New Roman" panose="02020603050405020304" pitchFamily="18" charset="0"/>
            </a:endParaRPr>
          </a:p>
          <a:p>
            <a:pPr marL="342900" lvl="0" indent="-342900" algn="just">
              <a:spcBef>
                <a:spcPts val="600"/>
              </a:spcBef>
              <a:spcAft>
                <a:spcPts val="0"/>
              </a:spcAft>
              <a:buFont typeface="Symbol" panose="05050102010706020507" pitchFamily="18" charset="2"/>
              <a:buChar char=""/>
            </a:pPr>
            <a:r>
              <a:rPr lang="en-US" sz="2000" b="1" dirty="0">
                <a:effectLst/>
                <a:latin typeface="Times New Roman" panose="02020603050405020304" pitchFamily="18" charset="0"/>
                <a:ea typeface="Times New Roman" panose="02020603050405020304" pitchFamily="18" charset="0"/>
              </a:rPr>
              <a:t>(V8) No testing practices.</a:t>
            </a:r>
            <a:r>
              <a:rPr lang="en-US" sz="2000" dirty="0">
                <a:effectLst/>
                <a:latin typeface="Times New Roman" panose="02020603050405020304" pitchFamily="18" charset="0"/>
                <a:ea typeface="Times New Roman" panose="02020603050405020304" pitchFamily="18" charset="0"/>
              </a:rPr>
              <a:t> During the software testing process, there is NO proper checklists and testing guidelines, so further software testing is NOT easy to implement. </a:t>
            </a:r>
            <a:endParaRPr lang="pt-PT" sz="2000" dirty="0">
              <a:effectLst/>
              <a:latin typeface="Times New Roman" panose="02020603050405020304" pitchFamily="18" charset="0"/>
              <a:ea typeface="Times New Roman" panose="02020603050405020304" pitchFamily="18" charset="0"/>
            </a:endParaRPr>
          </a:p>
          <a:p>
            <a:pPr marL="342900" lvl="0" indent="-342900" algn="just">
              <a:spcBef>
                <a:spcPts val="600"/>
              </a:spcBef>
              <a:spcAft>
                <a:spcPts val="0"/>
              </a:spcAft>
              <a:buFont typeface="Symbol" panose="05050102010706020507" pitchFamily="18" charset="2"/>
              <a:buChar char=""/>
            </a:pPr>
            <a:r>
              <a:rPr lang="en-US" sz="2000" b="1" dirty="0">
                <a:effectLst/>
                <a:latin typeface="Times New Roman" panose="02020603050405020304" pitchFamily="18" charset="0"/>
                <a:ea typeface="Times New Roman" panose="02020603050405020304" pitchFamily="18" charset="0"/>
              </a:rPr>
              <a:t>(V9) No data </a:t>
            </a:r>
            <a:r>
              <a:rPr lang="en-US" sz="2000" b="1" dirty="0">
                <a:latin typeface="Times New Roman" panose="02020603050405020304" pitchFamily="18" charset="0"/>
                <a:ea typeface="Times New Roman" panose="02020603050405020304" pitchFamily="18" charset="0"/>
              </a:rPr>
              <a:t>simple </a:t>
            </a:r>
            <a:r>
              <a:rPr lang="en-US" sz="2000" b="1" dirty="0">
                <a:effectLst/>
                <a:latin typeface="Times New Roman" panose="02020603050405020304" pitchFamily="18" charset="0"/>
                <a:ea typeface="Times New Roman" panose="02020603050405020304" pitchFamily="18" charset="0"/>
              </a:rPr>
              <a:t>stewardship.</a:t>
            </a:r>
            <a:r>
              <a:rPr lang="en-US" sz="2000" dirty="0">
                <a:effectLst/>
                <a:latin typeface="Times New Roman" panose="02020603050405020304" pitchFamily="18" charset="0"/>
                <a:ea typeface="Times New Roman" panose="02020603050405020304" pitchFamily="18" charset="0"/>
              </a:rPr>
              <a:t> There are NO mechanisms to allow an easy and secure access of data and its manipulation. </a:t>
            </a:r>
            <a:endParaRPr lang="pt-PT" sz="2000" dirty="0">
              <a:latin typeface="Times New Roman" panose="02020603050405020304" pitchFamily="18" charset="0"/>
              <a:ea typeface="Times New Roman" panose="02020603050405020304" pitchFamily="18" charset="0"/>
            </a:endParaRPr>
          </a:p>
          <a:p>
            <a:pPr marL="342900" lvl="0" indent="-342900" algn="just">
              <a:spcBef>
                <a:spcPts val="600"/>
              </a:spcBef>
              <a:spcAft>
                <a:spcPts val="0"/>
              </a:spcAft>
              <a:buFont typeface="Symbol" panose="05050102010706020507" pitchFamily="18" charset="2"/>
              <a:buChar char=""/>
            </a:pPr>
            <a:r>
              <a:rPr lang="en-US" sz="2000" b="1" dirty="0">
                <a:effectLst/>
                <a:latin typeface="Times New Roman" panose="02020603050405020304" pitchFamily="18" charset="0"/>
                <a:ea typeface="SimSun" panose="02010600030101010101" pitchFamily="2" charset="-122"/>
              </a:rPr>
              <a:t>(V10) No static analysis of software’s smells.</a:t>
            </a:r>
            <a:r>
              <a:rPr lang="en-US" sz="2000" dirty="0">
                <a:effectLst/>
                <a:latin typeface="Times New Roman" panose="02020603050405020304" pitchFamily="18" charset="0"/>
                <a:ea typeface="SimSun" panose="02010600030101010101" pitchFamily="2" charset="-122"/>
              </a:rPr>
              <a:t> Due to its complexity, code smells techniques are NOT easy to implement and adopt; that means that software code problems are NOT easily identifiable.</a:t>
            </a:r>
            <a:endParaRPr lang="pt-PT" sz="2000" dirty="0"/>
          </a:p>
        </p:txBody>
      </p:sp>
    </p:spTree>
    <p:extLst>
      <p:ext uri="{BB962C8B-B14F-4D97-AF65-F5344CB8AC3E}">
        <p14:creationId xmlns:p14="http://schemas.microsoft.com/office/powerpoint/2010/main" val="1973091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038AE6-AA62-4B76-A885-E85AAFB9A2CB}"/>
              </a:ext>
            </a:extLst>
          </p:cNvPr>
          <p:cNvSpPr>
            <a:spLocks noGrp="1"/>
          </p:cNvSpPr>
          <p:nvPr>
            <p:ph type="title"/>
          </p:nvPr>
        </p:nvSpPr>
        <p:spPr/>
        <p:txBody>
          <a:bodyPr/>
          <a:lstStyle/>
          <a:p>
            <a:r>
              <a:rPr lang="pt-PT" b="1" dirty="0" err="1">
                <a:solidFill>
                  <a:schemeClr val="accent5">
                    <a:lumMod val="75000"/>
                  </a:schemeClr>
                </a:solidFill>
              </a:rPr>
              <a:t>Vulnerabilities</a:t>
            </a:r>
            <a:r>
              <a:rPr lang="pt-PT" dirty="0"/>
              <a:t>: </a:t>
            </a:r>
            <a:r>
              <a:rPr lang="pt-PT" dirty="0" err="1"/>
              <a:t>user</a:t>
            </a:r>
            <a:r>
              <a:rPr lang="pt-PT" dirty="0"/>
              <a:t> </a:t>
            </a:r>
            <a:r>
              <a:rPr lang="pt-PT" dirty="0" err="1"/>
              <a:t>experience</a:t>
            </a:r>
            <a:endParaRPr lang="pt-PT" dirty="0"/>
          </a:p>
        </p:txBody>
      </p:sp>
      <p:sp>
        <p:nvSpPr>
          <p:cNvPr id="3" name="Marcador de Posição do Rodapé 2">
            <a:extLst>
              <a:ext uri="{FF2B5EF4-FFF2-40B4-BE49-F238E27FC236}">
                <a16:creationId xmlns:a16="http://schemas.microsoft.com/office/drawing/2014/main" id="{624C7F44-9E16-4DBD-9CCD-D6CB0DCF2F80}"/>
              </a:ext>
            </a:extLst>
          </p:cNvPr>
          <p:cNvSpPr>
            <a:spLocks noGrp="1"/>
          </p:cNvSpPr>
          <p:nvPr>
            <p:ph type="ftr" sz="quarter" idx="11"/>
          </p:nvPr>
        </p:nvSpPr>
        <p:spPr/>
        <p:txBody>
          <a:bodyPr/>
          <a:lstStyle/>
          <a:p>
            <a:r>
              <a:rPr lang="pt-PT"/>
              <a:t>RE4SuSY 2020</a:t>
            </a:r>
          </a:p>
        </p:txBody>
      </p:sp>
      <p:sp>
        <p:nvSpPr>
          <p:cNvPr id="4" name="Marcador de Posição do Número do Diapositivo 3">
            <a:extLst>
              <a:ext uri="{FF2B5EF4-FFF2-40B4-BE49-F238E27FC236}">
                <a16:creationId xmlns:a16="http://schemas.microsoft.com/office/drawing/2014/main" id="{776FA266-6512-4087-8F08-B2420CF33B16}"/>
              </a:ext>
            </a:extLst>
          </p:cNvPr>
          <p:cNvSpPr>
            <a:spLocks noGrp="1"/>
          </p:cNvSpPr>
          <p:nvPr>
            <p:ph type="sldNum" sz="quarter" idx="12"/>
          </p:nvPr>
        </p:nvSpPr>
        <p:spPr/>
        <p:txBody>
          <a:bodyPr/>
          <a:lstStyle/>
          <a:p>
            <a:fld id="{36C2C8C4-90B5-4523-B1E5-1120D41CAE7D}" type="slidenum">
              <a:rPr lang="pt-PT" smtClean="0"/>
              <a:t>9</a:t>
            </a:fld>
            <a:endParaRPr lang="pt-PT"/>
          </a:p>
        </p:txBody>
      </p:sp>
      <p:sp>
        <p:nvSpPr>
          <p:cNvPr id="5" name="CaixaDeTexto 4">
            <a:extLst>
              <a:ext uri="{FF2B5EF4-FFF2-40B4-BE49-F238E27FC236}">
                <a16:creationId xmlns:a16="http://schemas.microsoft.com/office/drawing/2014/main" id="{92406ABF-AE63-42D9-A0EA-250E2CFD7B5B}"/>
              </a:ext>
            </a:extLst>
          </p:cNvPr>
          <p:cNvSpPr txBox="1"/>
          <p:nvPr/>
        </p:nvSpPr>
        <p:spPr>
          <a:xfrm>
            <a:off x="883579" y="1849348"/>
            <a:ext cx="10294705" cy="2462213"/>
          </a:xfrm>
          <a:prstGeom prst="rect">
            <a:avLst/>
          </a:prstGeom>
          <a:noFill/>
        </p:spPr>
        <p:txBody>
          <a:bodyPr wrap="square" rtlCol="0">
            <a:spAutoFit/>
          </a:bodyPr>
          <a:lstStyle/>
          <a:p>
            <a:pPr marL="342900" lvl="0" indent="-342900" algn="just">
              <a:spcBef>
                <a:spcPts val="600"/>
              </a:spcBef>
              <a:spcAft>
                <a:spcPts val="0"/>
              </a:spcAft>
              <a:buFont typeface="Symbol" panose="05050102010706020507" pitchFamily="18" charset="2"/>
              <a:buChar char=""/>
            </a:pPr>
            <a:r>
              <a:rPr lang="en-US" sz="2400" b="1" dirty="0">
                <a:effectLst/>
                <a:latin typeface="Times New Roman" panose="02020603050405020304" pitchFamily="18" charset="0"/>
                <a:ea typeface="Times New Roman" panose="02020603050405020304" pitchFamily="18" charset="0"/>
              </a:rPr>
              <a:t>(V11) No end-users feedback communication.</a:t>
            </a:r>
            <a:r>
              <a:rPr lang="en-US" sz="2400" dirty="0">
                <a:effectLst/>
                <a:latin typeface="Times New Roman" panose="02020603050405020304" pitchFamily="18" charset="0"/>
                <a:ea typeface="Times New Roman" panose="02020603050405020304" pitchFamily="18" charset="0"/>
              </a:rPr>
              <a:t> There is NO communication and feedback channels between end-users and software owners, for example to report and notify about suggested improvements or bugs. </a:t>
            </a:r>
          </a:p>
          <a:p>
            <a:pPr marL="342900" lvl="0" indent="-342900" algn="just">
              <a:spcBef>
                <a:spcPts val="600"/>
              </a:spcBef>
              <a:spcAft>
                <a:spcPts val="0"/>
              </a:spcAft>
              <a:buFont typeface="Symbol" panose="05050102010706020507" pitchFamily="18" charset="2"/>
              <a:buChar char=""/>
            </a:pPr>
            <a:endParaRPr lang="pt-PT" sz="2400" dirty="0">
              <a:latin typeface="Times New Roman" panose="02020603050405020304" pitchFamily="18" charset="0"/>
              <a:ea typeface="Times New Roman" panose="02020603050405020304" pitchFamily="18" charset="0"/>
            </a:endParaRPr>
          </a:p>
          <a:p>
            <a:pPr marL="342900" lvl="0" indent="-342900" algn="just">
              <a:spcBef>
                <a:spcPts val="600"/>
              </a:spcBef>
              <a:spcAft>
                <a:spcPts val="0"/>
              </a:spcAft>
              <a:buFont typeface="Symbol" panose="05050102010706020507" pitchFamily="18" charset="2"/>
              <a:buChar char=""/>
            </a:pPr>
            <a:r>
              <a:rPr lang="en-US" sz="2400" b="1" dirty="0">
                <a:effectLst/>
                <a:latin typeface="Times New Roman" panose="02020603050405020304" pitchFamily="18" charset="0"/>
                <a:ea typeface="SimSun" panose="02010600030101010101" pitchFamily="2" charset="-122"/>
              </a:rPr>
              <a:t>(V12) No effective and efficient graphical user interface.</a:t>
            </a:r>
            <a:r>
              <a:rPr lang="en-US" sz="2400" dirty="0">
                <a:effectLst/>
                <a:latin typeface="Times New Roman" panose="02020603050405020304" pitchFamily="18" charset="0"/>
                <a:ea typeface="SimSun" panose="02010600030101010101" pitchFamily="2" charset="-122"/>
              </a:rPr>
              <a:t> The graphic user interface does not allow an effective and efficient end-user interaction.</a:t>
            </a:r>
            <a:endParaRPr lang="pt-PT" sz="2400" dirty="0"/>
          </a:p>
        </p:txBody>
      </p:sp>
    </p:spTree>
    <p:extLst>
      <p:ext uri="{BB962C8B-B14F-4D97-AF65-F5344CB8AC3E}">
        <p14:creationId xmlns:p14="http://schemas.microsoft.com/office/powerpoint/2010/main" val="1662049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038AE6-AA62-4B76-A885-E85AAFB9A2CB}"/>
              </a:ext>
            </a:extLst>
          </p:cNvPr>
          <p:cNvSpPr>
            <a:spLocks noGrp="1"/>
          </p:cNvSpPr>
          <p:nvPr>
            <p:ph type="title"/>
          </p:nvPr>
        </p:nvSpPr>
        <p:spPr/>
        <p:txBody>
          <a:bodyPr/>
          <a:lstStyle/>
          <a:p>
            <a:r>
              <a:rPr lang="pt-PT" b="1" dirty="0" err="1">
                <a:solidFill>
                  <a:schemeClr val="accent5">
                    <a:lumMod val="75000"/>
                  </a:schemeClr>
                </a:solidFill>
              </a:rPr>
              <a:t>Vulnerabilities</a:t>
            </a:r>
            <a:r>
              <a:rPr lang="pt-PT" dirty="0"/>
              <a:t>: </a:t>
            </a:r>
            <a:r>
              <a:rPr lang="pt-PT" dirty="0" err="1"/>
              <a:t>operational</a:t>
            </a:r>
            <a:r>
              <a:rPr lang="pt-PT" dirty="0"/>
              <a:t> </a:t>
            </a:r>
            <a:r>
              <a:rPr lang="pt-PT" dirty="0" err="1"/>
              <a:t>support</a:t>
            </a:r>
            <a:endParaRPr lang="pt-PT" dirty="0"/>
          </a:p>
        </p:txBody>
      </p:sp>
      <p:sp>
        <p:nvSpPr>
          <p:cNvPr id="3" name="Marcador de Posição do Rodapé 2">
            <a:extLst>
              <a:ext uri="{FF2B5EF4-FFF2-40B4-BE49-F238E27FC236}">
                <a16:creationId xmlns:a16="http://schemas.microsoft.com/office/drawing/2014/main" id="{624C7F44-9E16-4DBD-9CCD-D6CB0DCF2F80}"/>
              </a:ext>
            </a:extLst>
          </p:cNvPr>
          <p:cNvSpPr>
            <a:spLocks noGrp="1"/>
          </p:cNvSpPr>
          <p:nvPr>
            <p:ph type="ftr" sz="quarter" idx="11"/>
          </p:nvPr>
        </p:nvSpPr>
        <p:spPr/>
        <p:txBody>
          <a:bodyPr/>
          <a:lstStyle/>
          <a:p>
            <a:r>
              <a:rPr lang="pt-PT"/>
              <a:t>RE4SuSY 2020</a:t>
            </a:r>
          </a:p>
        </p:txBody>
      </p:sp>
      <p:sp>
        <p:nvSpPr>
          <p:cNvPr id="4" name="Marcador de Posição do Número do Diapositivo 3">
            <a:extLst>
              <a:ext uri="{FF2B5EF4-FFF2-40B4-BE49-F238E27FC236}">
                <a16:creationId xmlns:a16="http://schemas.microsoft.com/office/drawing/2014/main" id="{776FA266-6512-4087-8F08-B2420CF33B16}"/>
              </a:ext>
            </a:extLst>
          </p:cNvPr>
          <p:cNvSpPr>
            <a:spLocks noGrp="1"/>
          </p:cNvSpPr>
          <p:nvPr>
            <p:ph type="sldNum" sz="quarter" idx="12"/>
          </p:nvPr>
        </p:nvSpPr>
        <p:spPr/>
        <p:txBody>
          <a:bodyPr/>
          <a:lstStyle/>
          <a:p>
            <a:fld id="{36C2C8C4-90B5-4523-B1E5-1120D41CAE7D}" type="slidenum">
              <a:rPr lang="pt-PT" smtClean="0"/>
              <a:t>10</a:t>
            </a:fld>
            <a:endParaRPr lang="pt-PT"/>
          </a:p>
        </p:txBody>
      </p:sp>
      <p:sp>
        <p:nvSpPr>
          <p:cNvPr id="5" name="CaixaDeTexto 4">
            <a:extLst>
              <a:ext uri="{FF2B5EF4-FFF2-40B4-BE49-F238E27FC236}">
                <a16:creationId xmlns:a16="http://schemas.microsoft.com/office/drawing/2014/main" id="{C22B092A-C1E6-49E6-BD61-3E8959F044D9}"/>
              </a:ext>
            </a:extLst>
          </p:cNvPr>
          <p:cNvSpPr txBox="1"/>
          <p:nvPr/>
        </p:nvSpPr>
        <p:spPr>
          <a:xfrm>
            <a:off x="893850" y="1387008"/>
            <a:ext cx="10202238" cy="4985980"/>
          </a:xfrm>
          <a:prstGeom prst="rect">
            <a:avLst/>
          </a:prstGeom>
          <a:noFill/>
        </p:spPr>
        <p:txBody>
          <a:bodyPr wrap="square" rtlCol="0">
            <a:spAutoFit/>
          </a:bodyPr>
          <a:lstStyle/>
          <a:p>
            <a:pPr marL="342900" lvl="0" indent="-342900" algn="just">
              <a:spcBef>
                <a:spcPts val="600"/>
              </a:spcBef>
              <a:spcAft>
                <a:spcPts val="0"/>
              </a:spcAft>
              <a:buFont typeface="Symbol" panose="05050102010706020507" pitchFamily="18" charset="2"/>
              <a:buChar char=""/>
            </a:pPr>
            <a:r>
              <a:rPr lang="en-US" sz="1800" b="1" dirty="0">
                <a:effectLst/>
                <a:latin typeface="Times New Roman" panose="02020603050405020304" pitchFamily="18" charset="0"/>
                <a:ea typeface="Times New Roman" panose="02020603050405020304" pitchFamily="18" charset="0"/>
              </a:rPr>
              <a:t>(V13) No effective documentation to support development.</a:t>
            </a:r>
            <a:r>
              <a:rPr lang="en-US" sz="1800" dirty="0">
                <a:effectLst/>
                <a:latin typeface="Times New Roman" panose="02020603050405020304" pitchFamily="18" charset="0"/>
                <a:ea typeface="Times New Roman" panose="02020603050405020304" pitchFamily="18" charset="0"/>
              </a:rPr>
              <a:t> There is NO effective documentation to ensure that the software related documents (e.g., requirements document, design document, test document, and maintenance document) provide a clear and precise communication among the technical and non-technical stakeholders. </a:t>
            </a:r>
            <a:endParaRPr lang="pt-PT" sz="1800" dirty="0">
              <a:effectLst/>
              <a:latin typeface="Times New Roman" panose="02020603050405020304" pitchFamily="18" charset="0"/>
              <a:ea typeface="Times New Roman" panose="02020603050405020304" pitchFamily="18" charset="0"/>
            </a:endParaRPr>
          </a:p>
          <a:p>
            <a:pPr marL="342900" lvl="0" indent="-342900" algn="just">
              <a:spcBef>
                <a:spcPts val="600"/>
              </a:spcBef>
              <a:spcAft>
                <a:spcPts val="0"/>
              </a:spcAft>
              <a:buFont typeface="Symbol" panose="05050102010706020507" pitchFamily="18" charset="2"/>
              <a:buChar char=""/>
            </a:pPr>
            <a:r>
              <a:rPr lang="en-US" sz="1800" b="1" dirty="0">
                <a:effectLst/>
                <a:latin typeface="Times New Roman" panose="02020603050405020304" pitchFamily="18" charset="0"/>
                <a:ea typeface="Times New Roman" panose="02020603050405020304" pitchFamily="18" charset="0"/>
              </a:rPr>
              <a:t>(V14) Not compliant with sustainability manifestos’ principles.</a:t>
            </a:r>
            <a:r>
              <a:rPr lang="en-US" sz="1800" dirty="0">
                <a:effectLst/>
                <a:latin typeface="Times New Roman" panose="02020603050405020304" pitchFamily="18" charset="0"/>
                <a:ea typeface="Times New Roman" panose="02020603050405020304" pitchFamily="18" charset="0"/>
              </a:rPr>
              <a:t> There are NO concerns with sustainability manifestos’ principles, the commitments and policies which must be followed by a software stakeholder to ensure sustainability.</a:t>
            </a:r>
          </a:p>
          <a:p>
            <a:pPr lvl="0" algn="just">
              <a:spcBef>
                <a:spcPts val="600"/>
              </a:spcBef>
              <a:spcAft>
                <a:spcPts val="0"/>
              </a:spcAft>
            </a:pPr>
            <a:endParaRPr lang="pt-PT" sz="1800" dirty="0">
              <a:effectLst/>
              <a:latin typeface="Times New Roman" panose="02020603050405020304" pitchFamily="18" charset="0"/>
              <a:ea typeface="Times New Roman" panose="02020603050405020304" pitchFamily="18" charset="0"/>
            </a:endParaRPr>
          </a:p>
          <a:p>
            <a:pPr marL="342900" lvl="0" indent="-342900" algn="just">
              <a:spcBef>
                <a:spcPts val="600"/>
              </a:spcBef>
              <a:spcAft>
                <a:spcPts val="0"/>
              </a:spcAft>
              <a:buFont typeface="Symbol" panose="05050102010706020507" pitchFamily="18" charset="2"/>
              <a:buChar char=""/>
            </a:pPr>
            <a:r>
              <a:rPr lang="en-US" sz="1800" b="1" dirty="0">
                <a:effectLst/>
                <a:latin typeface="Times New Roman" panose="02020603050405020304" pitchFamily="18" charset="0"/>
                <a:ea typeface="Times New Roman" panose="02020603050405020304" pitchFamily="18" charset="0"/>
              </a:rPr>
              <a:t>(V15) No training.</a:t>
            </a:r>
            <a:r>
              <a:rPr lang="en-US" sz="1800" dirty="0">
                <a:effectLst/>
                <a:latin typeface="Times New Roman" panose="02020603050405020304" pitchFamily="18" charset="0"/>
                <a:ea typeface="Times New Roman" panose="02020603050405020304" pitchFamily="18" charset="0"/>
              </a:rPr>
              <a:t> There is NO training of software engineers or end-users, respectively on the technical and use techniques. </a:t>
            </a:r>
            <a:endParaRPr lang="pt-PT" sz="1800" dirty="0">
              <a:effectLst/>
              <a:latin typeface="Times New Roman" panose="02020603050405020304" pitchFamily="18" charset="0"/>
              <a:ea typeface="Times New Roman" panose="02020603050405020304" pitchFamily="18" charset="0"/>
            </a:endParaRPr>
          </a:p>
          <a:p>
            <a:pPr marL="342900" lvl="0" indent="-342900" algn="just">
              <a:spcBef>
                <a:spcPts val="600"/>
              </a:spcBef>
              <a:spcAft>
                <a:spcPts val="0"/>
              </a:spcAft>
              <a:buFont typeface="Symbol" panose="05050102010706020507" pitchFamily="18" charset="2"/>
              <a:buChar char=""/>
            </a:pPr>
            <a:r>
              <a:rPr lang="en-US" sz="1800" b="1" dirty="0">
                <a:effectLst/>
                <a:latin typeface="Times New Roman" panose="02020603050405020304" pitchFamily="18" charset="0"/>
                <a:ea typeface="Times New Roman" panose="02020603050405020304" pitchFamily="18" charset="0"/>
              </a:rPr>
              <a:t>(V16) No funding for sustainable software.</a:t>
            </a:r>
            <a:r>
              <a:rPr lang="en-US" sz="1800" dirty="0">
                <a:effectLst/>
                <a:latin typeface="Times New Roman" panose="02020603050405020304" pitchFamily="18" charset="0"/>
                <a:ea typeface="Times New Roman" panose="02020603050405020304" pitchFamily="18" charset="0"/>
              </a:rPr>
              <a:t> There is NO funding or there is NO sum of money which is provided to software teams to build more sustainable software.</a:t>
            </a:r>
          </a:p>
          <a:p>
            <a:pPr lvl="0" algn="just">
              <a:spcBef>
                <a:spcPts val="600"/>
              </a:spcBef>
              <a:spcAft>
                <a:spcPts val="0"/>
              </a:spcAft>
            </a:pPr>
            <a:r>
              <a:rPr lang="en-US" sz="1800" dirty="0">
                <a:effectLst/>
                <a:latin typeface="Times New Roman" panose="02020603050405020304" pitchFamily="18" charset="0"/>
                <a:ea typeface="Times New Roman" panose="02020603050405020304" pitchFamily="18" charset="0"/>
              </a:rPr>
              <a:t> </a:t>
            </a:r>
            <a:endParaRPr lang="pt-PT" sz="1800" dirty="0">
              <a:effectLst/>
              <a:latin typeface="Times New Roman" panose="02020603050405020304" pitchFamily="18" charset="0"/>
              <a:ea typeface="Times New Roman" panose="02020603050405020304" pitchFamily="18" charset="0"/>
            </a:endParaRPr>
          </a:p>
          <a:p>
            <a:pPr marL="342900" lvl="0" indent="-342900" algn="just">
              <a:spcBef>
                <a:spcPts val="600"/>
              </a:spcBef>
              <a:spcAft>
                <a:spcPts val="0"/>
              </a:spcAft>
              <a:buFont typeface="Symbol" panose="05050102010706020507" pitchFamily="18" charset="2"/>
              <a:buChar char=""/>
            </a:pPr>
            <a:r>
              <a:rPr lang="en-US" sz="1800" b="1" dirty="0">
                <a:effectLst/>
                <a:latin typeface="Times New Roman" panose="02020603050405020304" pitchFamily="18" charset="0"/>
                <a:ea typeface="Times New Roman" panose="02020603050405020304" pitchFamily="18" charset="0"/>
              </a:rPr>
              <a:t>(V17) No leadership for change management.</a:t>
            </a:r>
            <a:r>
              <a:rPr lang="en-US" sz="1800" dirty="0">
                <a:effectLst/>
                <a:latin typeface="Times New Roman" panose="02020603050405020304" pitchFamily="18" charset="0"/>
                <a:ea typeface="Times New Roman" panose="02020603050405020304" pitchFamily="18" charset="0"/>
              </a:rPr>
              <a:t> There is no leadership or, in other words, there are NO skills through which a project manager handles change management, as well as time, cost management, or HR management [14]. </a:t>
            </a:r>
            <a:endParaRPr lang="pt-PT"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459534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038AE6-AA62-4B76-A885-E85AAFB9A2CB}"/>
              </a:ext>
            </a:extLst>
          </p:cNvPr>
          <p:cNvSpPr>
            <a:spLocks noGrp="1"/>
          </p:cNvSpPr>
          <p:nvPr>
            <p:ph type="title"/>
          </p:nvPr>
        </p:nvSpPr>
        <p:spPr/>
        <p:txBody>
          <a:bodyPr/>
          <a:lstStyle/>
          <a:p>
            <a:r>
              <a:rPr lang="pt-PT" dirty="0" err="1"/>
              <a:t>Technical</a:t>
            </a:r>
            <a:r>
              <a:rPr lang="pt-PT" dirty="0"/>
              <a:t> Software </a:t>
            </a:r>
            <a:r>
              <a:rPr lang="pt-PT" b="1" dirty="0" err="1">
                <a:solidFill>
                  <a:schemeClr val="accent4">
                    <a:lumMod val="75000"/>
                  </a:schemeClr>
                </a:solidFill>
              </a:rPr>
              <a:t>Goals</a:t>
            </a:r>
            <a:endParaRPr lang="pt-PT" b="1" dirty="0">
              <a:solidFill>
                <a:schemeClr val="accent4">
                  <a:lumMod val="75000"/>
                </a:schemeClr>
              </a:solidFill>
            </a:endParaRPr>
          </a:p>
        </p:txBody>
      </p:sp>
      <p:sp>
        <p:nvSpPr>
          <p:cNvPr id="3" name="Marcador de Posição do Rodapé 2">
            <a:extLst>
              <a:ext uri="{FF2B5EF4-FFF2-40B4-BE49-F238E27FC236}">
                <a16:creationId xmlns:a16="http://schemas.microsoft.com/office/drawing/2014/main" id="{624C7F44-9E16-4DBD-9CCD-D6CB0DCF2F80}"/>
              </a:ext>
            </a:extLst>
          </p:cNvPr>
          <p:cNvSpPr>
            <a:spLocks noGrp="1"/>
          </p:cNvSpPr>
          <p:nvPr>
            <p:ph type="ftr" sz="quarter" idx="11"/>
          </p:nvPr>
        </p:nvSpPr>
        <p:spPr/>
        <p:txBody>
          <a:bodyPr/>
          <a:lstStyle/>
          <a:p>
            <a:r>
              <a:rPr lang="pt-PT"/>
              <a:t>RE4SuSY 2020</a:t>
            </a:r>
          </a:p>
        </p:txBody>
      </p:sp>
      <p:sp>
        <p:nvSpPr>
          <p:cNvPr id="4" name="Marcador de Posição do Número do Diapositivo 3">
            <a:extLst>
              <a:ext uri="{FF2B5EF4-FFF2-40B4-BE49-F238E27FC236}">
                <a16:creationId xmlns:a16="http://schemas.microsoft.com/office/drawing/2014/main" id="{776FA266-6512-4087-8F08-B2420CF33B16}"/>
              </a:ext>
            </a:extLst>
          </p:cNvPr>
          <p:cNvSpPr>
            <a:spLocks noGrp="1"/>
          </p:cNvSpPr>
          <p:nvPr>
            <p:ph type="sldNum" sz="quarter" idx="12"/>
          </p:nvPr>
        </p:nvSpPr>
        <p:spPr/>
        <p:txBody>
          <a:bodyPr/>
          <a:lstStyle/>
          <a:p>
            <a:fld id="{36C2C8C4-90B5-4523-B1E5-1120D41CAE7D}" type="slidenum">
              <a:rPr lang="pt-PT" smtClean="0"/>
              <a:t>11</a:t>
            </a:fld>
            <a:endParaRPr lang="pt-PT"/>
          </a:p>
        </p:txBody>
      </p:sp>
      <p:sp>
        <p:nvSpPr>
          <p:cNvPr id="5" name="CaixaDeTexto 4">
            <a:extLst>
              <a:ext uri="{FF2B5EF4-FFF2-40B4-BE49-F238E27FC236}">
                <a16:creationId xmlns:a16="http://schemas.microsoft.com/office/drawing/2014/main" id="{77F02424-D59E-451A-AF9C-0C36DB36C115}"/>
              </a:ext>
            </a:extLst>
          </p:cNvPr>
          <p:cNvSpPr txBox="1"/>
          <p:nvPr/>
        </p:nvSpPr>
        <p:spPr>
          <a:xfrm>
            <a:off x="945224" y="1690688"/>
            <a:ext cx="8352889" cy="3477875"/>
          </a:xfrm>
          <a:prstGeom prst="rect">
            <a:avLst/>
          </a:prstGeom>
          <a:noFill/>
        </p:spPr>
        <p:txBody>
          <a:bodyPr wrap="square" rtlCol="0">
            <a:spAutoFit/>
          </a:bodyPr>
          <a:lstStyle/>
          <a:p>
            <a:pPr marL="342900" lvl="0" indent="-342900" algn="just">
              <a:spcBef>
                <a:spcPts val="600"/>
              </a:spcBef>
              <a:spcAft>
                <a:spcPts val="0"/>
              </a:spcAft>
              <a:buFont typeface="Symbol" panose="05050102010706020507" pitchFamily="18" charset="2"/>
              <a:buChar char=""/>
            </a:pPr>
            <a:r>
              <a:rPr lang="en-US" sz="2000" b="1" dirty="0">
                <a:effectLst/>
                <a:latin typeface="Times New Roman" panose="02020603050405020304" pitchFamily="18" charset="0"/>
                <a:ea typeface="Times New Roman" panose="02020603050405020304" pitchFamily="18" charset="0"/>
              </a:rPr>
              <a:t>(G1) Software product shall be flexible and easy to be adapted</a:t>
            </a:r>
            <a:r>
              <a:rPr lang="en-US" sz="2000" dirty="0">
                <a:effectLst/>
                <a:latin typeface="Times New Roman" panose="02020603050405020304" pitchFamily="18" charset="0"/>
                <a:ea typeface="Times New Roman" panose="02020603050405020304" pitchFamily="18" charset="0"/>
              </a:rPr>
              <a:t>. The software product shall have the capability of adaptation, presenting no major changes and no need for new training for end-users, saving time and other resources. (Type: </a:t>
            </a:r>
            <a:r>
              <a:rPr lang="en-US" sz="2000" i="1" dirty="0">
                <a:effectLst/>
                <a:latin typeface="Times New Roman" panose="02020603050405020304" pitchFamily="18" charset="0"/>
                <a:ea typeface="Times New Roman" panose="02020603050405020304" pitchFamily="18" charset="0"/>
              </a:rPr>
              <a:t>Maintainability;</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SubType</a:t>
            </a:r>
            <a:r>
              <a:rPr lang="en-US" sz="2000" dirty="0">
                <a:effectLst/>
                <a:latin typeface="Times New Roman" panose="02020603050405020304" pitchFamily="18" charset="0"/>
                <a:ea typeface="Times New Roman" panose="02020603050405020304" pitchFamily="18" charset="0"/>
              </a:rPr>
              <a:t>: </a:t>
            </a:r>
            <a:r>
              <a:rPr lang="en-GB" sz="2000" i="1" dirty="0" err="1">
                <a:effectLst/>
                <a:latin typeface="Times New Roman" panose="02020603050405020304" pitchFamily="18" charset="0"/>
                <a:ea typeface="Times New Roman" panose="02020603050405020304" pitchFamily="18" charset="0"/>
              </a:rPr>
              <a:t>Maintainability_Reusability</a:t>
            </a:r>
            <a:r>
              <a:rPr lang="en-US" sz="2000" dirty="0">
                <a:effectLst/>
                <a:latin typeface="Times New Roman" panose="02020603050405020304" pitchFamily="18" charset="0"/>
                <a:ea typeface="Times New Roman" panose="02020603050405020304" pitchFamily="18" charset="0"/>
              </a:rPr>
              <a:t>)</a:t>
            </a:r>
          </a:p>
          <a:p>
            <a:pPr marL="342900" lvl="0" indent="-342900" algn="just">
              <a:spcBef>
                <a:spcPts val="600"/>
              </a:spcBef>
              <a:spcAft>
                <a:spcPts val="0"/>
              </a:spcAft>
              <a:buFont typeface="Symbol" panose="05050102010706020507" pitchFamily="18" charset="2"/>
              <a:buChar char=""/>
            </a:pPr>
            <a:endParaRPr lang="pt-PT" sz="2000" dirty="0">
              <a:effectLst/>
              <a:latin typeface="Times New Roman" panose="02020603050405020304" pitchFamily="18" charset="0"/>
              <a:ea typeface="Times New Roman" panose="02020603050405020304" pitchFamily="18" charset="0"/>
            </a:endParaRPr>
          </a:p>
          <a:p>
            <a:pPr marL="342900" lvl="0" indent="-342900" algn="just">
              <a:spcBef>
                <a:spcPts val="600"/>
              </a:spcBef>
              <a:spcAft>
                <a:spcPts val="0"/>
              </a:spcAft>
              <a:buFont typeface="Symbol" panose="05050102010706020507" pitchFamily="18" charset="2"/>
              <a:buChar char=""/>
            </a:pPr>
            <a:r>
              <a:rPr lang="en-US" sz="2000" b="1" dirty="0">
                <a:effectLst/>
                <a:latin typeface="Times New Roman" panose="02020603050405020304" pitchFamily="18" charset="0"/>
                <a:ea typeface="Times New Roman" panose="02020603050405020304" pitchFamily="18" charset="0"/>
              </a:rPr>
              <a:t>(G2) Software product shall be effective.</a:t>
            </a:r>
            <a:r>
              <a:rPr lang="en-US" sz="2000" dirty="0">
                <a:effectLst/>
                <a:latin typeface="Times New Roman" panose="02020603050405020304" pitchFamily="18" charset="0"/>
                <a:ea typeface="Times New Roman" panose="02020603050405020304" pitchFamily="18" charset="0"/>
              </a:rPr>
              <a:t> The software product shall obtain valuable results. (Type: </a:t>
            </a:r>
            <a:r>
              <a:rPr lang="en-US" sz="2000" i="1" dirty="0">
                <a:effectLst/>
                <a:latin typeface="Times New Roman" panose="02020603050405020304" pitchFamily="18" charset="0"/>
                <a:ea typeface="Times New Roman" panose="02020603050405020304" pitchFamily="18" charset="0"/>
              </a:rPr>
              <a:t>Reliability; </a:t>
            </a:r>
            <a:r>
              <a:rPr lang="en-US" sz="2000" dirty="0" err="1">
                <a:effectLst/>
                <a:latin typeface="Times New Roman" panose="02020603050405020304" pitchFamily="18" charset="0"/>
                <a:ea typeface="Times New Roman" panose="02020603050405020304" pitchFamily="18" charset="0"/>
              </a:rPr>
              <a:t>SubType</a:t>
            </a:r>
            <a:r>
              <a:rPr lang="en-US" sz="2000" dirty="0">
                <a:effectLst/>
                <a:latin typeface="Times New Roman" panose="02020603050405020304" pitchFamily="18" charset="0"/>
                <a:ea typeface="Times New Roman" panose="02020603050405020304" pitchFamily="18" charset="0"/>
              </a:rPr>
              <a:t>: </a:t>
            </a:r>
            <a:r>
              <a:rPr lang="en-GB" sz="2000" i="1" dirty="0" err="1">
                <a:effectLst/>
                <a:latin typeface="Times New Roman" panose="02020603050405020304" pitchFamily="18" charset="0"/>
                <a:ea typeface="Times New Roman" panose="02020603050405020304" pitchFamily="18" charset="0"/>
              </a:rPr>
              <a:t>Reliability_Maturity</a:t>
            </a:r>
            <a:r>
              <a:rPr lang="en-US" sz="2000" dirty="0">
                <a:effectLst/>
                <a:latin typeface="Times New Roman" panose="02020603050405020304" pitchFamily="18" charset="0"/>
                <a:ea typeface="Times New Roman" panose="02020603050405020304" pitchFamily="18" charset="0"/>
              </a:rPr>
              <a:t>)</a:t>
            </a:r>
          </a:p>
          <a:p>
            <a:pPr marL="342900" lvl="0" indent="-342900" algn="just">
              <a:spcBef>
                <a:spcPts val="600"/>
              </a:spcBef>
              <a:spcAft>
                <a:spcPts val="0"/>
              </a:spcAft>
              <a:buFont typeface="Symbol" panose="05050102010706020507" pitchFamily="18" charset="2"/>
              <a:buChar char=""/>
            </a:pPr>
            <a:endParaRPr lang="pt-PT" sz="2000" dirty="0">
              <a:effectLst/>
              <a:latin typeface="Times New Roman" panose="02020603050405020304" pitchFamily="18" charset="0"/>
              <a:ea typeface="Times New Roman" panose="02020603050405020304" pitchFamily="18" charset="0"/>
            </a:endParaRPr>
          </a:p>
          <a:p>
            <a:pPr marL="342900" lvl="0" indent="-342900" algn="just">
              <a:spcBef>
                <a:spcPts val="600"/>
              </a:spcBef>
              <a:spcAft>
                <a:spcPts val="0"/>
              </a:spcAft>
              <a:buFont typeface="Symbol" panose="05050102010706020507" pitchFamily="18" charset="2"/>
              <a:buChar char=""/>
            </a:pPr>
            <a:r>
              <a:rPr lang="en-US" sz="2000" b="1" dirty="0">
                <a:effectLst/>
                <a:latin typeface="Times New Roman" panose="02020603050405020304" pitchFamily="18" charset="0"/>
                <a:ea typeface="Times New Roman" panose="02020603050405020304" pitchFamily="18" charset="0"/>
              </a:rPr>
              <a:t>(G3) Software product shall be efficient.</a:t>
            </a:r>
            <a:r>
              <a:rPr lang="en-US" sz="2000" dirty="0">
                <a:effectLst/>
                <a:latin typeface="Times New Roman" panose="02020603050405020304" pitchFamily="18" charset="0"/>
                <a:ea typeface="Times New Roman" panose="02020603050405020304" pitchFamily="18" charset="0"/>
              </a:rPr>
              <a:t> (Type: </a:t>
            </a:r>
            <a:r>
              <a:rPr lang="en-US" sz="2000" i="1" dirty="0">
                <a:effectLst/>
                <a:latin typeface="Times New Roman" panose="02020603050405020304" pitchFamily="18" charset="0"/>
                <a:ea typeface="Times New Roman" panose="02020603050405020304" pitchFamily="18" charset="0"/>
              </a:rPr>
              <a:t>Performance; </a:t>
            </a:r>
            <a:r>
              <a:rPr lang="en-US" sz="2000" dirty="0" err="1">
                <a:effectLst/>
                <a:latin typeface="Times New Roman" panose="02020603050405020304" pitchFamily="18" charset="0"/>
                <a:ea typeface="Times New Roman" panose="02020603050405020304" pitchFamily="18" charset="0"/>
              </a:rPr>
              <a:t>SubType</a:t>
            </a:r>
            <a:r>
              <a:rPr lang="en-US" sz="2000" i="1" dirty="0">
                <a:effectLst/>
                <a:latin typeface="Times New Roman" panose="02020603050405020304" pitchFamily="18" charset="0"/>
                <a:ea typeface="Times New Roman" panose="02020603050405020304" pitchFamily="18" charset="0"/>
              </a:rPr>
              <a:t>: </a:t>
            </a:r>
            <a:r>
              <a:rPr lang="en-GB" sz="2000" i="1" dirty="0" err="1">
                <a:effectLst/>
                <a:latin typeface="Times New Roman" panose="02020603050405020304" pitchFamily="18" charset="0"/>
                <a:ea typeface="Times New Roman" panose="02020603050405020304" pitchFamily="18" charset="0"/>
              </a:rPr>
              <a:t>Performance_DiskCapacity</a:t>
            </a:r>
            <a:r>
              <a:rPr lang="en-US" sz="2000" dirty="0">
                <a:effectLst/>
                <a:latin typeface="Times New Roman" panose="02020603050405020304" pitchFamily="18" charset="0"/>
                <a:ea typeface="Times New Roman" panose="02020603050405020304" pitchFamily="18" charset="0"/>
              </a:rPr>
              <a:t>)</a:t>
            </a:r>
            <a:endParaRPr lang="pt-PT"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96514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038AE6-AA62-4B76-A885-E85AAFB9A2CB}"/>
              </a:ext>
            </a:extLst>
          </p:cNvPr>
          <p:cNvSpPr>
            <a:spLocks noGrp="1"/>
          </p:cNvSpPr>
          <p:nvPr>
            <p:ph type="title"/>
          </p:nvPr>
        </p:nvSpPr>
        <p:spPr/>
        <p:txBody>
          <a:bodyPr/>
          <a:lstStyle/>
          <a:p>
            <a:r>
              <a:rPr lang="pt-PT" dirty="0"/>
              <a:t>Non-</a:t>
            </a:r>
            <a:r>
              <a:rPr lang="pt-PT" dirty="0" err="1"/>
              <a:t>technical</a:t>
            </a:r>
            <a:r>
              <a:rPr lang="pt-PT" dirty="0"/>
              <a:t> Software </a:t>
            </a:r>
            <a:r>
              <a:rPr lang="pt-PT" b="1" dirty="0" err="1">
                <a:solidFill>
                  <a:schemeClr val="accent4">
                    <a:lumMod val="75000"/>
                  </a:schemeClr>
                </a:solidFill>
              </a:rPr>
              <a:t>Goals</a:t>
            </a:r>
            <a:endParaRPr lang="pt-PT" b="1" dirty="0">
              <a:solidFill>
                <a:schemeClr val="accent4">
                  <a:lumMod val="75000"/>
                </a:schemeClr>
              </a:solidFill>
            </a:endParaRPr>
          </a:p>
        </p:txBody>
      </p:sp>
      <p:sp>
        <p:nvSpPr>
          <p:cNvPr id="3" name="Marcador de Posição do Rodapé 2">
            <a:extLst>
              <a:ext uri="{FF2B5EF4-FFF2-40B4-BE49-F238E27FC236}">
                <a16:creationId xmlns:a16="http://schemas.microsoft.com/office/drawing/2014/main" id="{624C7F44-9E16-4DBD-9CCD-D6CB0DCF2F80}"/>
              </a:ext>
            </a:extLst>
          </p:cNvPr>
          <p:cNvSpPr>
            <a:spLocks noGrp="1"/>
          </p:cNvSpPr>
          <p:nvPr>
            <p:ph type="ftr" sz="quarter" idx="11"/>
          </p:nvPr>
        </p:nvSpPr>
        <p:spPr/>
        <p:txBody>
          <a:bodyPr/>
          <a:lstStyle/>
          <a:p>
            <a:r>
              <a:rPr lang="pt-PT"/>
              <a:t>RE4SuSY 2020</a:t>
            </a:r>
          </a:p>
        </p:txBody>
      </p:sp>
      <p:sp>
        <p:nvSpPr>
          <p:cNvPr id="4" name="Marcador de Posição do Número do Diapositivo 3">
            <a:extLst>
              <a:ext uri="{FF2B5EF4-FFF2-40B4-BE49-F238E27FC236}">
                <a16:creationId xmlns:a16="http://schemas.microsoft.com/office/drawing/2014/main" id="{776FA266-6512-4087-8F08-B2420CF33B16}"/>
              </a:ext>
            </a:extLst>
          </p:cNvPr>
          <p:cNvSpPr>
            <a:spLocks noGrp="1"/>
          </p:cNvSpPr>
          <p:nvPr>
            <p:ph type="sldNum" sz="quarter" idx="12"/>
          </p:nvPr>
        </p:nvSpPr>
        <p:spPr/>
        <p:txBody>
          <a:bodyPr/>
          <a:lstStyle/>
          <a:p>
            <a:fld id="{36C2C8C4-90B5-4523-B1E5-1120D41CAE7D}" type="slidenum">
              <a:rPr lang="pt-PT" smtClean="0"/>
              <a:t>12</a:t>
            </a:fld>
            <a:endParaRPr lang="pt-PT"/>
          </a:p>
        </p:txBody>
      </p:sp>
      <p:sp>
        <p:nvSpPr>
          <p:cNvPr id="5" name="CaixaDeTexto 4">
            <a:extLst>
              <a:ext uri="{FF2B5EF4-FFF2-40B4-BE49-F238E27FC236}">
                <a16:creationId xmlns:a16="http://schemas.microsoft.com/office/drawing/2014/main" id="{2DDFBF8F-0838-4966-A7F1-3929B10DA4F7}"/>
              </a:ext>
            </a:extLst>
          </p:cNvPr>
          <p:cNvSpPr txBox="1"/>
          <p:nvPr/>
        </p:nvSpPr>
        <p:spPr>
          <a:xfrm>
            <a:off x="986319" y="1690688"/>
            <a:ext cx="45719" cy="369332"/>
          </a:xfrm>
          <a:prstGeom prst="rect">
            <a:avLst/>
          </a:prstGeom>
          <a:noFill/>
        </p:spPr>
        <p:txBody>
          <a:bodyPr wrap="square" rtlCol="0">
            <a:spAutoFit/>
          </a:bodyPr>
          <a:lstStyle/>
          <a:p>
            <a:endParaRPr lang="pt-PT" dirty="0"/>
          </a:p>
        </p:txBody>
      </p:sp>
      <p:sp>
        <p:nvSpPr>
          <p:cNvPr id="6" name="CaixaDeTexto 5">
            <a:extLst>
              <a:ext uri="{FF2B5EF4-FFF2-40B4-BE49-F238E27FC236}">
                <a16:creationId xmlns:a16="http://schemas.microsoft.com/office/drawing/2014/main" id="{0D244692-941C-4D53-A1F3-7C1334ABCF50}"/>
              </a:ext>
            </a:extLst>
          </p:cNvPr>
          <p:cNvSpPr txBox="1"/>
          <p:nvPr/>
        </p:nvSpPr>
        <p:spPr>
          <a:xfrm>
            <a:off x="986319" y="1602769"/>
            <a:ext cx="9596063" cy="2708434"/>
          </a:xfrm>
          <a:prstGeom prst="rect">
            <a:avLst/>
          </a:prstGeom>
          <a:noFill/>
        </p:spPr>
        <p:txBody>
          <a:bodyPr wrap="square" rtlCol="0">
            <a:spAutoFit/>
          </a:bodyPr>
          <a:lstStyle/>
          <a:p>
            <a:pPr marL="342900" lvl="0" indent="-342900" algn="just">
              <a:spcBef>
                <a:spcPts val="600"/>
              </a:spcBef>
              <a:spcAft>
                <a:spcPts val="0"/>
              </a:spcAft>
              <a:buFont typeface="Symbol" panose="05050102010706020507" pitchFamily="18" charset="2"/>
              <a:buChar char=""/>
            </a:pPr>
            <a:r>
              <a:rPr lang="en-US" sz="2000" b="1" dirty="0">
                <a:effectLst/>
                <a:latin typeface="Times New Roman" panose="02020603050405020304" pitchFamily="18" charset="0"/>
                <a:ea typeface="Times New Roman" panose="02020603050405020304" pitchFamily="18" charset="0"/>
              </a:rPr>
              <a:t>(G4) Software product shall contribute to costs reduction.</a:t>
            </a:r>
            <a:r>
              <a:rPr lang="en-US" sz="2000" dirty="0">
                <a:effectLst/>
                <a:latin typeface="Times New Roman" panose="02020603050405020304" pitchFamily="18" charset="0"/>
                <a:ea typeface="Times New Roman" panose="02020603050405020304" pitchFamily="18" charset="0"/>
              </a:rPr>
              <a:t> From business perspective a sustainable software shall contribute to profit increase. (Type: </a:t>
            </a:r>
            <a:r>
              <a:rPr lang="en-US" sz="2000" i="1" dirty="0">
                <a:effectLst/>
                <a:latin typeface="Times New Roman" panose="02020603050405020304" pitchFamily="18" charset="0"/>
                <a:ea typeface="Times New Roman" panose="02020603050405020304" pitchFamily="18" charset="0"/>
              </a:rPr>
              <a:t>Performance; </a:t>
            </a:r>
            <a:r>
              <a:rPr lang="en-US" sz="2000" dirty="0" err="1">
                <a:effectLst/>
                <a:latin typeface="Times New Roman" panose="02020603050405020304" pitchFamily="18" charset="0"/>
                <a:ea typeface="Times New Roman" panose="02020603050405020304" pitchFamily="18" charset="0"/>
              </a:rPr>
              <a:t>SubType</a:t>
            </a:r>
            <a:r>
              <a:rPr lang="en-US" sz="2000" dirty="0">
                <a:effectLst/>
                <a:latin typeface="Times New Roman" panose="02020603050405020304" pitchFamily="18" charset="0"/>
                <a:ea typeface="Times New Roman" panose="02020603050405020304" pitchFamily="18" charset="0"/>
              </a:rPr>
              <a:t>:</a:t>
            </a:r>
            <a:r>
              <a:rPr lang="en-US" sz="2000" i="1" dirty="0">
                <a:effectLst/>
                <a:latin typeface="Times New Roman" panose="02020603050405020304" pitchFamily="18" charset="0"/>
                <a:ea typeface="Times New Roman" panose="02020603050405020304" pitchFamily="18" charset="0"/>
              </a:rPr>
              <a:t> </a:t>
            </a:r>
            <a:r>
              <a:rPr lang="en-GB" sz="2000" i="1" dirty="0" err="1">
                <a:effectLst/>
                <a:latin typeface="Times New Roman" panose="02020603050405020304" pitchFamily="18" charset="0"/>
                <a:ea typeface="Times New Roman" panose="02020603050405020304" pitchFamily="18" charset="0"/>
              </a:rPr>
              <a:t>Performance_SystemResponseTime</a:t>
            </a:r>
            <a:r>
              <a:rPr lang="en-US" sz="2000" dirty="0">
                <a:effectLst/>
                <a:latin typeface="Times New Roman" panose="02020603050405020304" pitchFamily="18" charset="0"/>
                <a:ea typeface="Times New Roman" panose="02020603050405020304" pitchFamily="18" charset="0"/>
              </a:rPr>
              <a:t>)</a:t>
            </a:r>
          </a:p>
          <a:p>
            <a:pPr marL="342900" lvl="0" indent="-342900" algn="just">
              <a:spcBef>
                <a:spcPts val="600"/>
              </a:spcBef>
              <a:spcAft>
                <a:spcPts val="0"/>
              </a:spcAft>
              <a:buFont typeface="Symbol" panose="05050102010706020507" pitchFamily="18" charset="2"/>
              <a:buChar char=""/>
            </a:pPr>
            <a:endParaRPr lang="pt-PT" sz="2000" dirty="0">
              <a:effectLst/>
              <a:latin typeface="Times New Roman" panose="02020603050405020304" pitchFamily="18" charset="0"/>
              <a:ea typeface="Times New Roman" panose="02020603050405020304" pitchFamily="18" charset="0"/>
            </a:endParaRPr>
          </a:p>
          <a:p>
            <a:pPr marL="342900" lvl="0" indent="-342900" algn="just">
              <a:spcBef>
                <a:spcPts val="600"/>
              </a:spcBef>
              <a:spcAft>
                <a:spcPts val="0"/>
              </a:spcAft>
              <a:buFont typeface="Symbol" panose="05050102010706020507" pitchFamily="18" charset="2"/>
              <a:buChar char=""/>
            </a:pPr>
            <a:r>
              <a:rPr lang="en-US" sz="2000" b="1" dirty="0">
                <a:effectLst/>
                <a:latin typeface="Times New Roman" panose="02020603050405020304" pitchFamily="18" charset="0"/>
                <a:ea typeface="Times New Roman" panose="02020603050405020304" pitchFamily="18" charset="0"/>
              </a:rPr>
              <a:t>(G5) Software product shall contribute to the scientific progress.</a:t>
            </a:r>
            <a:r>
              <a:rPr lang="en-US" sz="2000" dirty="0">
                <a:effectLst/>
                <a:latin typeface="Times New Roman" panose="02020603050405020304" pitchFamily="18" charset="0"/>
                <a:ea typeface="Times New Roman" panose="02020603050405020304" pitchFamily="18" charset="0"/>
              </a:rPr>
              <a:t> Software product shall have an important role as a tool for research. There is a need for training, prototyping and implementations with a goal for more sustainable software. (Type: </a:t>
            </a:r>
            <a:r>
              <a:rPr lang="en-US" sz="2000" i="1" dirty="0">
                <a:effectLst/>
                <a:latin typeface="Times New Roman" panose="02020603050405020304" pitchFamily="18" charset="0"/>
                <a:ea typeface="Times New Roman" panose="02020603050405020304" pitchFamily="18" charset="0"/>
              </a:rPr>
              <a:t>Usability; </a:t>
            </a:r>
            <a:r>
              <a:rPr lang="en-US" sz="2000" dirty="0" err="1">
                <a:effectLst/>
                <a:latin typeface="Times New Roman" panose="02020603050405020304" pitchFamily="18" charset="0"/>
                <a:ea typeface="Times New Roman" panose="02020603050405020304" pitchFamily="18" charset="0"/>
              </a:rPr>
              <a:t>SubType</a:t>
            </a:r>
            <a:r>
              <a:rPr lang="en-US" sz="2000" dirty="0">
                <a:effectLst/>
                <a:latin typeface="Times New Roman" panose="02020603050405020304" pitchFamily="18" charset="0"/>
                <a:ea typeface="Times New Roman" panose="02020603050405020304" pitchFamily="18" charset="0"/>
              </a:rPr>
              <a:t>: </a:t>
            </a:r>
            <a:r>
              <a:rPr lang="en-GB" sz="2000" i="1" dirty="0" err="1">
                <a:effectLst/>
                <a:latin typeface="Times New Roman" panose="02020603050405020304" pitchFamily="18" charset="0"/>
                <a:ea typeface="Times New Roman" panose="02020603050405020304" pitchFamily="18" charset="0"/>
              </a:rPr>
              <a:t>Usability_Operability</a:t>
            </a:r>
            <a:r>
              <a:rPr lang="en-US" sz="2000" dirty="0">
                <a:effectLst/>
                <a:latin typeface="Times New Roman" panose="02020603050405020304" pitchFamily="18" charset="0"/>
                <a:ea typeface="Times New Roman" panose="02020603050405020304" pitchFamily="18" charset="0"/>
              </a:rPr>
              <a:t>)</a:t>
            </a:r>
            <a:endParaRPr lang="pt-PT"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62606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038AE6-AA62-4B76-A885-E85AAFB9A2CB}"/>
              </a:ext>
            </a:extLst>
          </p:cNvPr>
          <p:cNvSpPr>
            <a:spLocks noGrp="1"/>
          </p:cNvSpPr>
          <p:nvPr>
            <p:ph type="title"/>
          </p:nvPr>
        </p:nvSpPr>
        <p:spPr/>
        <p:txBody>
          <a:bodyPr/>
          <a:lstStyle/>
          <a:p>
            <a:r>
              <a:rPr lang="pt-PT" dirty="0" err="1"/>
              <a:t>Relations</a:t>
            </a:r>
            <a:r>
              <a:rPr lang="pt-PT" dirty="0"/>
              <a:t>: </a:t>
            </a:r>
            <a:r>
              <a:rPr lang="pt-PT" b="1" dirty="0" err="1">
                <a:solidFill>
                  <a:schemeClr val="accent5">
                    <a:lumMod val="75000"/>
                  </a:schemeClr>
                </a:solidFill>
              </a:rPr>
              <a:t>Vulnerabilities</a:t>
            </a:r>
            <a:r>
              <a:rPr lang="pt-PT" dirty="0"/>
              <a:t> </a:t>
            </a:r>
            <a:r>
              <a:rPr lang="pt-PT" dirty="0" err="1"/>
              <a:t>vs</a:t>
            </a:r>
            <a:r>
              <a:rPr lang="pt-PT" dirty="0"/>
              <a:t> </a:t>
            </a:r>
            <a:r>
              <a:rPr lang="pt-PT" b="1" dirty="0" err="1">
                <a:solidFill>
                  <a:schemeClr val="accent4">
                    <a:lumMod val="75000"/>
                  </a:schemeClr>
                </a:solidFill>
                <a:effectLst>
                  <a:outerShdw blurRad="38100" dist="38100" dir="2700000" algn="tl">
                    <a:srgbClr val="000000">
                      <a:alpha val="43137"/>
                    </a:srgbClr>
                  </a:outerShdw>
                </a:effectLst>
              </a:rPr>
              <a:t>Goals</a:t>
            </a:r>
            <a:endParaRPr lang="pt-PT" b="1" dirty="0">
              <a:solidFill>
                <a:schemeClr val="accent4">
                  <a:lumMod val="75000"/>
                </a:schemeClr>
              </a:solidFill>
              <a:effectLst>
                <a:outerShdw blurRad="38100" dist="38100" dir="2700000" algn="tl">
                  <a:srgbClr val="000000">
                    <a:alpha val="43137"/>
                  </a:srgbClr>
                </a:outerShdw>
              </a:effectLst>
            </a:endParaRPr>
          </a:p>
        </p:txBody>
      </p:sp>
      <p:sp>
        <p:nvSpPr>
          <p:cNvPr id="3" name="Marcador de Posição do Rodapé 2">
            <a:extLst>
              <a:ext uri="{FF2B5EF4-FFF2-40B4-BE49-F238E27FC236}">
                <a16:creationId xmlns:a16="http://schemas.microsoft.com/office/drawing/2014/main" id="{624C7F44-9E16-4DBD-9CCD-D6CB0DCF2F80}"/>
              </a:ext>
            </a:extLst>
          </p:cNvPr>
          <p:cNvSpPr>
            <a:spLocks noGrp="1"/>
          </p:cNvSpPr>
          <p:nvPr>
            <p:ph type="ftr" sz="quarter" idx="11"/>
          </p:nvPr>
        </p:nvSpPr>
        <p:spPr/>
        <p:txBody>
          <a:bodyPr/>
          <a:lstStyle/>
          <a:p>
            <a:r>
              <a:rPr lang="pt-PT"/>
              <a:t>RE4SuSY 2020</a:t>
            </a:r>
          </a:p>
        </p:txBody>
      </p:sp>
      <p:sp>
        <p:nvSpPr>
          <p:cNvPr id="4" name="Marcador de Posição do Número do Diapositivo 3">
            <a:extLst>
              <a:ext uri="{FF2B5EF4-FFF2-40B4-BE49-F238E27FC236}">
                <a16:creationId xmlns:a16="http://schemas.microsoft.com/office/drawing/2014/main" id="{776FA266-6512-4087-8F08-B2420CF33B16}"/>
              </a:ext>
            </a:extLst>
          </p:cNvPr>
          <p:cNvSpPr>
            <a:spLocks noGrp="1"/>
          </p:cNvSpPr>
          <p:nvPr>
            <p:ph type="sldNum" sz="quarter" idx="12"/>
          </p:nvPr>
        </p:nvSpPr>
        <p:spPr/>
        <p:txBody>
          <a:bodyPr/>
          <a:lstStyle/>
          <a:p>
            <a:fld id="{36C2C8C4-90B5-4523-B1E5-1120D41CAE7D}" type="slidenum">
              <a:rPr lang="pt-PT" smtClean="0"/>
              <a:t>13</a:t>
            </a:fld>
            <a:endParaRPr lang="pt-PT"/>
          </a:p>
        </p:txBody>
      </p:sp>
      <p:sp>
        <p:nvSpPr>
          <p:cNvPr id="5" name="CaixaDeTexto 4">
            <a:extLst>
              <a:ext uri="{FF2B5EF4-FFF2-40B4-BE49-F238E27FC236}">
                <a16:creationId xmlns:a16="http://schemas.microsoft.com/office/drawing/2014/main" id="{B741679F-7DB6-479D-941E-1531E27E0736}"/>
              </a:ext>
            </a:extLst>
          </p:cNvPr>
          <p:cNvSpPr txBox="1"/>
          <p:nvPr/>
        </p:nvSpPr>
        <p:spPr>
          <a:xfrm>
            <a:off x="986319" y="1690688"/>
            <a:ext cx="6945330" cy="3323101"/>
          </a:xfrm>
          <a:prstGeom prst="rect">
            <a:avLst/>
          </a:prstGeom>
          <a:noFill/>
        </p:spPr>
        <p:txBody>
          <a:bodyPr wrap="square" rtlCol="0">
            <a:spAutoFit/>
          </a:bodyPr>
          <a:lstStyle/>
          <a:p>
            <a:endParaRPr lang="pt-PT"/>
          </a:p>
        </p:txBody>
      </p:sp>
      <p:sp>
        <p:nvSpPr>
          <p:cNvPr id="6" name="Rectangle 1">
            <a:extLst>
              <a:ext uri="{FF2B5EF4-FFF2-40B4-BE49-F238E27FC236}">
                <a16:creationId xmlns:a16="http://schemas.microsoft.com/office/drawing/2014/main" id="{FB1A9495-F055-46B4-A203-AABF41D833BB}"/>
              </a:ext>
            </a:extLst>
          </p:cNvPr>
          <p:cNvSpPr>
            <a:spLocks noChangeArrowheads="1"/>
          </p:cNvSpPr>
          <p:nvPr/>
        </p:nvSpPr>
        <p:spPr bwMode="auto">
          <a:xfrm>
            <a:off x="2879518" y="1641636"/>
            <a:ext cx="635077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 pos="685800"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 pos="685800"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 pos="685800"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 pos="685800"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 pos="6858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 pos="6858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 pos="6858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 pos="6858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 pos="685800" algn="l"/>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Char char="•"/>
              <a:tabLst>
                <a:tab pos="228600" algn="l"/>
                <a:tab pos="685800" algn="l"/>
              </a:tabLst>
            </a:pPr>
            <a:r>
              <a:rPr kumimoji="0" lang="en-US" altLang="pt-PT" sz="2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Table I. Links Between Goals and Vulnerabilities</a:t>
            </a:r>
            <a:endParaRPr kumimoji="0" lang="en-US" altLang="pt-PT" sz="2400" b="0" i="0" u="none" strike="noStrike" cap="none" normalizeH="0" baseline="0" dirty="0">
              <a:ln>
                <a:noFill/>
              </a:ln>
              <a:solidFill>
                <a:schemeClr val="tx1"/>
              </a:solidFill>
              <a:effectLst/>
            </a:endParaRPr>
          </a:p>
        </p:txBody>
      </p:sp>
      <p:graphicFrame>
        <p:nvGraphicFramePr>
          <p:cNvPr id="8" name="Tabela 7">
            <a:extLst>
              <a:ext uri="{FF2B5EF4-FFF2-40B4-BE49-F238E27FC236}">
                <a16:creationId xmlns:a16="http://schemas.microsoft.com/office/drawing/2014/main" id="{FA314497-7280-4148-BA86-13DC3469326C}"/>
              </a:ext>
            </a:extLst>
          </p:cNvPr>
          <p:cNvGraphicFramePr/>
          <p:nvPr>
            <p:extLst>
              <p:ext uri="{D42A27DB-BD31-4B8C-83A1-F6EECF244321}">
                <p14:modId xmlns:p14="http://schemas.microsoft.com/office/powerpoint/2010/main" val="432163821"/>
              </p:ext>
            </p:extLst>
          </p:nvPr>
        </p:nvGraphicFramePr>
        <p:xfrm>
          <a:off x="3462390" y="2165338"/>
          <a:ext cx="5141640" cy="4235000"/>
        </p:xfrm>
        <a:graphic>
          <a:graphicData uri="http://schemas.openxmlformats.org/drawingml/2006/table">
            <a:tbl>
              <a:tblPr firstRow="1" firstCol="1" bandRow="1">
                <a:tableStyleId>{5C22544A-7EE6-4342-B048-85BDC9FD1C3A}</a:tableStyleId>
              </a:tblPr>
              <a:tblGrid>
                <a:gridCol w="734520">
                  <a:extLst>
                    <a:ext uri="{9D8B030D-6E8A-4147-A177-3AD203B41FA5}">
                      <a16:colId xmlns:a16="http://schemas.microsoft.com/office/drawing/2014/main" val="2444312768"/>
                    </a:ext>
                  </a:extLst>
                </a:gridCol>
                <a:gridCol w="734520">
                  <a:extLst>
                    <a:ext uri="{9D8B030D-6E8A-4147-A177-3AD203B41FA5}">
                      <a16:colId xmlns:a16="http://schemas.microsoft.com/office/drawing/2014/main" val="2601577560"/>
                    </a:ext>
                  </a:extLst>
                </a:gridCol>
                <a:gridCol w="734520">
                  <a:extLst>
                    <a:ext uri="{9D8B030D-6E8A-4147-A177-3AD203B41FA5}">
                      <a16:colId xmlns:a16="http://schemas.microsoft.com/office/drawing/2014/main" val="3526213304"/>
                    </a:ext>
                  </a:extLst>
                </a:gridCol>
                <a:gridCol w="734520">
                  <a:extLst>
                    <a:ext uri="{9D8B030D-6E8A-4147-A177-3AD203B41FA5}">
                      <a16:colId xmlns:a16="http://schemas.microsoft.com/office/drawing/2014/main" val="3967821023"/>
                    </a:ext>
                  </a:extLst>
                </a:gridCol>
                <a:gridCol w="734520">
                  <a:extLst>
                    <a:ext uri="{9D8B030D-6E8A-4147-A177-3AD203B41FA5}">
                      <a16:colId xmlns:a16="http://schemas.microsoft.com/office/drawing/2014/main" val="1615374150"/>
                    </a:ext>
                  </a:extLst>
                </a:gridCol>
                <a:gridCol w="734520">
                  <a:extLst>
                    <a:ext uri="{9D8B030D-6E8A-4147-A177-3AD203B41FA5}">
                      <a16:colId xmlns:a16="http://schemas.microsoft.com/office/drawing/2014/main" val="870588550"/>
                    </a:ext>
                  </a:extLst>
                </a:gridCol>
                <a:gridCol w="734520">
                  <a:extLst>
                    <a:ext uri="{9D8B030D-6E8A-4147-A177-3AD203B41FA5}">
                      <a16:colId xmlns:a16="http://schemas.microsoft.com/office/drawing/2014/main" val="2105529050"/>
                    </a:ext>
                  </a:extLst>
                </a:gridCol>
              </a:tblGrid>
              <a:tr h="219685">
                <a:tc>
                  <a:txBody>
                    <a:bodyPr/>
                    <a:lstStyle/>
                    <a:p>
                      <a:pPr algn="l" fontAlgn="t">
                        <a:spcBef>
                          <a:spcPts val="0"/>
                        </a:spcBef>
                        <a:spcAft>
                          <a:spcPts val="0"/>
                        </a:spcAft>
                      </a:pPr>
                      <a:r>
                        <a:rPr lang="en-US" sz="900" u="none" strike="noStrike">
                          <a:effectLst/>
                        </a:rPr>
                        <a:t> </a:t>
                      </a:r>
                      <a:endParaRPr lang="en-US" sz="1800" b="0" i="0" u="none" strike="noStrike">
                        <a:effectLst/>
                        <a:latin typeface="Arial" panose="020B0604020202020204" pitchFamily="34" charset="0"/>
                      </a:endParaRPr>
                    </a:p>
                  </a:txBody>
                  <a:tcPr marL="68580" marR="68580" marT="6350" marB="0"/>
                </a:tc>
                <a:tc>
                  <a:txBody>
                    <a:bodyPr/>
                    <a:lstStyle/>
                    <a:p>
                      <a:pPr algn="l" fontAlgn="t">
                        <a:spcBef>
                          <a:spcPts val="0"/>
                        </a:spcBef>
                        <a:spcAft>
                          <a:spcPts val="0"/>
                        </a:spcAft>
                      </a:pPr>
                      <a:r>
                        <a:rPr lang="en-US" sz="900" u="none" strike="noStrike" dirty="0">
                          <a:effectLst/>
                        </a:rPr>
                        <a:t> </a:t>
                      </a:r>
                      <a:endParaRPr lang="en-US" sz="1800" b="0" i="0" u="none" strike="noStrike" dirty="0">
                        <a:effectLst/>
                        <a:latin typeface="Arial" panose="020B0604020202020204" pitchFamily="34" charset="0"/>
                      </a:endParaRPr>
                    </a:p>
                  </a:txBody>
                  <a:tcPr marL="68580" marR="68580" marT="6350" marB="0"/>
                </a:tc>
                <a:tc gridSpan="5">
                  <a:txBody>
                    <a:bodyPr/>
                    <a:lstStyle/>
                    <a:p>
                      <a:pPr algn="ctr" fontAlgn="t">
                        <a:spcBef>
                          <a:spcPts val="0"/>
                        </a:spcBef>
                        <a:spcAft>
                          <a:spcPts val="0"/>
                        </a:spcAft>
                      </a:pPr>
                      <a:r>
                        <a:rPr lang="en-US" sz="1800" u="none" strike="noStrike" dirty="0">
                          <a:effectLst/>
                        </a:rPr>
                        <a:t>Goals (Solutions)</a:t>
                      </a:r>
                      <a:endParaRPr lang="en-US" sz="1800" b="0" i="0" u="none" strike="noStrike" dirty="0">
                        <a:effectLst/>
                        <a:latin typeface="Arial" panose="020B0604020202020204" pitchFamily="34" charset="0"/>
                      </a:endParaRPr>
                    </a:p>
                  </a:txBody>
                  <a:tcPr marL="68580" marR="68580" marT="6350" marB="0"/>
                </a:tc>
                <a:tc hMerge="1">
                  <a:txBody>
                    <a:bodyPr/>
                    <a:lstStyle/>
                    <a:p>
                      <a:endParaRPr lang="pt-PT"/>
                    </a:p>
                  </a:txBody>
                  <a:tcPr/>
                </a:tc>
                <a:tc hMerge="1">
                  <a:txBody>
                    <a:bodyPr/>
                    <a:lstStyle/>
                    <a:p>
                      <a:endParaRPr lang="pt-PT"/>
                    </a:p>
                  </a:txBody>
                  <a:tcPr/>
                </a:tc>
                <a:tc hMerge="1">
                  <a:txBody>
                    <a:bodyPr/>
                    <a:lstStyle/>
                    <a:p>
                      <a:endParaRPr lang="pt-PT"/>
                    </a:p>
                  </a:txBody>
                  <a:tcPr/>
                </a:tc>
                <a:tc hMerge="1">
                  <a:txBody>
                    <a:bodyPr/>
                    <a:lstStyle/>
                    <a:p>
                      <a:endParaRPr lang="pt-PT"/>
                    </a:p>
                  </a:txBody>
                  <a:tcPr/>
                </a:tc>
                <a:extLst>
                  <a:ext uri="{0D108BD9-81ED-4DB2-BD59-A6C34878D82A}">
                    <a16:rowId xmlns:a16="http://schemas.microsoft.com/office/drawing/2014/main" val="1799478899"/>
                  </a:ext>
                </a:extLst>
              </a:tr>
              <a:tr h="219685">
                <a:tc>
                  <a:txBody>
                    <a:bodyPr/>
                    <a:lstStyle/>
                    <a:p>
                      <a:pPr algn="l" fontAlgn="t">
                        <a:spcBef>
                          <a:spcPts val="0"/>
                        </a:spcBef>
                        <a:spcAft>
                          <a:spcPts val="0"/>
                        </a:spcAft>
                      </a:pPr>
                      <a:r>
                        <a:rPr lang="en-US" sz="900" u="none" strike="noStrike">
                          <a:effectLst/>
                        </a:rPr>
                        <a:t> </a:t>
                      </a:r>
                      <a:endParaRPr lang="en-US" sz="1800" b="0" i="0" u="none" strike="noStrike">
                        <a:effectLst/>
                        <a:latin typeface="Arial" panose="020B0604020202020204" pitchFamily="34" charset="0"/>
                      </a:endParaRPr>
                    </a:p>
                  </a:txBody>
                  <a:tcPr marL="68580" marR="68580" marT="6350" marB="0"/>
                </a:tc>
                <a:tc>
                  <a:txBody>
                    <a:bodyPr/>
                    <a:lstStyle/>
                    <a:p>
                      <a:pPr algn="l" fontAlgn="t">
                        <a:spcBef>
                          <a:spcPts val="0"/>
                        </a:spcBef>
                        <a:spcAft>
                          <a:spcPts val="0"/>
                        </a:spcAft>
                      </a:pPr>
                      <a:r>
                        <a:rPr lang="en-US" sz="900" u="none" strike="noStrike">
                          <a:effectLst/>
                        </a:rPr>
                        <a:t> </a:t>
                      </a:r>
                      <a:endParaRPr lang="en-US" sz="18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dirty="0">
                          <a:effectLst/>
                        </a:rPr>
                        <a:t>G1</a:t>
                      </a:r>
                      <a:endParaRPr lang="en-US" sz="1200" b="0" i="0" u="none" strike="noStrike" dirty="0">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G2</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G3</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G4</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G5</a:t>
                      </a:r>
                      <a:endParaRPr lang="en-US" sz="1200" b="0" i="0" u="none" strike="noStrike">
                        <a:effectLst/>
                        <a:latin typeface="Arial" panose="020B0604020202020204" pitchFamily="34" charset="0"/>
                      </a:endParaRPr>
                    </a:p>
                  </a:txBody>
                  <a:tcPr marL="68580" marR="68580" marT="6350" marB="0"/>
                </a:tc>
                <a:extLst>
                  <a:ext uri="{0D108BD9-81ED-4DB2-BD59-A6C34878D82A}">
                    <a16:rowId xmlns:a16="http://schemas.microsoft.com/office/drawing/2014/main" val="658670356"/>
                  </a:ext>
                </a:extLst>
              </a:tr>
              <a:tr h="219685">
                <a:tc rowSpan="17">
                  <a:txBody>
                    <a:bodyPr/>
                    <a:lstStyle/>
                    <a:p>
                      <a:pPr marL="73152" marR="73152" algn="ctr" fontAlgn="t">
                        <a:spcBef>
                          <a:spcPts val="0"/>
                        </a:spcBef>
                        <a:spcAft>
                          <a:spcPts val="0"/>
                        </a:spcAft>
                      </a:pPr>
                      <a:r>
                        <a:rPr lang="en-US" sz="1800" u="none" strike="noStrike" dirty="0">
                          <a:effectLst/>
                        </a:rPr>
                        <a:t>Vulnerabilities (Problems)</a:t>
                      </a:r>
                      <a:endParaRPr lang="en-US" sz="1800" b="0" i="0" u="none" strike="noStrike" dirty="0">
                        <a:effectLst/>
                        <a:latin typeface="Arial" panose="020B0604020202020204" pitchFamily="34" charset="0"/>
                      </a:endParaRPr>
                    </a:p>
                  </a:txBody>
                  <a:tcPr marL="68580" marR="68580" marT="6350" marB="0" vert="vert270"/>
                </a:tc>
                <a:tc>
                  <a:txBody>
                    <a:bodyPr/>
                    <a:lstStyle/>
                    <a:p>
                      <a:pPr algn="ctr" fontAlgn="t">
                        <a:spcBef>
                          <a:spcPts val="0"/>
                        </a:spcBef>
                        <a:spcAft>
                          <a:spcPts val="0"/>
                        </a:spcAft>
                      </a:pPr>
                      <a:r>
                        <a:rPr lang="en-US" sz="800" u="none" strike="noStrike">
                          <a:effectLst/>
                        </a:rPr>
                        <a:t>V1</a:t>
                      </a:r>
                      <a:endParaRPr lang="en-US" sz="18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dirty="0">
                          <a:effectLst/>
                        </a:rPr>
                        <a:t>X</a:t>
                      </a:r>
                      <a:endParaRPr lang="en-US" sz="1200" b="0" i="0" u="none" strike="noStrike" dirty="0">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dirty="0">
                          <a:effectLst/>
                        </a:rPr>
                        <a:t>X</a:t>
                      </a:r>
                      <a:endParaRPr lang="en-US" sz="1200" b="0" i="0" u="none" strike="noStrike" dirty="0">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extLst>
                  <a:ext uri="{0D108BD9-81ED-4DB2-BD59-A6C34878D82A}">
                    <a16:rowId xmlns:a16="http://schemas.microsoft.com/office/drawing/2014/main" val="593450072"/>
                  </a:ext>
                </a:extLst>
              </a:tr>
              <a:tr h="219685">
                <a:tc vMerge="1">
                  <a:txBody>
                    <a:bodyPr/>
                    <a:lstStyle/>
                    <a:p>
                      <a:endParaRPr lang="pt-PT"/>
                    </a:p>
                  </a:txBody>
                  <a:tcPr/>
                </a:tc>
                <a:tc>
                  <a:txBody>
                    <a:bodyPr/>
                    <a:lstStyle/>
                    <a:p>
                      <a:pPr algn="ctr" fontAlgn="t">
                        <a:spcBef>
                          <a:spcPts val="0"/>
                        </a:spcBef>
                        <a:spcAft>
                          <a:spcPts val="0"/>
                        </a:spcAft>
                      </a:pPr>
                      <a:r>
                        <a:rPr lang="en-US" sz="800" u="none" strike="noStrike">
                          <a:effectLst/>
                        </a:rPr>
                        <a:t>V2</a:t>
                      </a:r>
                      <a:endParaRPr lang="en-US" sz="18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dirty="0">
                          <a:effectLst/>
                        </a:rPr>
                        <a:t>X</a:t>
                      </a:r>
                      <a:endParaRPr lang="en-US" sz="1200" b="0" i="0" u="none" strike="noStrike" dirty="0">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dirty="0">
                          <a:effectLst/>
                        </a:rPr>
                        <a:t>X</a:t>
                      </a:r>
                      <a:endParaRPr lang="en-US" sz="1200" b="0" i="0" u="none" strike="noStrike" dirty="0">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extLst>
                  <a:ext uri="{0D108BD9-81ED-4DB2-BD59-A6C34878D82A}">
                    <a16:rowId xmlns:a16="http://schemas.microsoft.com/office/drawing/2014/main" val="2757938033"/>
                  </a:ext>
                </a:extLst>
              </a:tr>
              <a:tr h="219685">
                <a:tc vMerge="1">
                  <a:txBody>
                    <a:bodyPr/>
                    <a:lstStyle/>
                    <a:p>
                      <a:endParaRPr lang="pt-PT"/>
                    </a:p>
                  </a:txBody>
                  <a:tcPr/>
                </a:tc>
                <a:tc>
                  <a:txBody>
                    <a:bodyPr/>
                    <a:lstStyle/>
                    <a:p>
                      <a:pPr algn="ctr" fontAlgn="t">
                        <a:spcBef>
                          <a:spcPts val="0"/>
                        </a:spcBef>
                        <a:spcAft>
                          <a:spcPts val="0"/>
                        </a:spcAft>
                      </a:pPr>
                      <a:r>
                        <a:rPr lang="en-US" sz="800" u="none" strike="noStrike">
                          <a:effectLst/>
                        </a:rPr>
                        <a:t>V3</a:t>
                      </a:r>
                      <a:endParaRPr lang="en-US" sz="18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dirty="0">
                          <a:effectLst/>
                        </a:rPr>
                        <a:t>X</a:t>
                      </a:r>
                      <a:endParaRPr lang="en-US" sz="1200" b="0" i="0" u="none" strike="noStrike" dirty="0">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extLst>
                  <a:ext uri="{0D108BD9-81ED-4DB2-BD59-A6C34878D82A}">
                    <a16:rowId xmlns:a16="http://schemas.microsoft.com/office/drawing/2014/main" val="2573827834"/>
                  </a:ext>
                </a:extLst>
              </a:tr>
              <a:tr h="219685">
                <a:tc vMerge="1">
                  <a:txBody>
                    <a:bodyPr/>
                    <a:lstStyle/>
                    <a:p>
                      <a:endParaRPr lang="pt-PT"/>
                    </a:p>
                  </a:txBody>
                  <a:tcPr/>
                </a:tc>
                <a:tc>
                  <a:txBody>
                    <a:bodyPr/>
                    <a:lstStyle/>
                    <a:p>
                      <a:pPr algn="ctr" fontAlgn="t">
                        <a:spcBef>
                          <a:spcPts val="0"/>
                        </a:spcBef>
                        <a:spcAft>
                          <a:spcPts val="0"/>
                        </a:spcAft>
                      </a:pPr>
                      <a:r>
                        <a:rPr lang="en-US" sz="800" u="none" strike="noStrike">
                          <a:effectLst/>
                        </a:rPr>
                        <a:t>V4</a:t>
                      </a:r>
                      <a:endParaRPr lang="en-US" sz="18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dirty="0">
                          <a:effectLst/>
                        </a:rPr>
                        <a:t> </a:t>
                      </a:r>
                      <a:endParaRPr lang="en-US" sz="1200" b="0" i="0" u="none" strike="noStrike" dirty="0">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extLst>
                  <a:ext uri="{0D108BD9-81ED-4DB2-BD59-A6C34878D82A}">
                    <a16:rowId xmlns:a16="http://schemas.microsoft.com/office/drawing/2014/main" val="433019587"/>
                  </a:ext>
                </a:extLst>
              </a:tr>
              <a:tr h="219685">
                <a:tc vMerge="1">
                  <a:txBody>
                    <a:bodyPr/>
                    <a:lstStyle/>
                    <a:p>
                      <a:endParaRPr lang="pt-PT"/>
                    </a:p>
                  </a:txBody>
                  <a:tcPr/>
                </a:tc>
                <a:tc>
                  <a:txBody>
                    <a:bodyPr/>
                    <a:lstStyle/>
                    <a:p>
                      <a:pPr algn="ctr" fontAlgn="t">
                        <a:spcBef>
                          <a:spcPts val="0"/>
                        </a:spcBef>
                        <a:spcAft>
                          <a:spcPts val="0"/>
                        </a:spcAft>
                      </a:pPr>
                      <a:r>
                        <a:rPr lang="en-US" sz="800" u="none" strike="noStrike">
                          <a:effectLst/>
                        </a:rPr>
                        <a:t>V5</a:t>
                      </a:r>
                      <a:endParaRPr lang="en-US" sz="18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dirty="0">
                          <a:effectLst/>
                        </a:rPr>
                        <a:t>X</a:t>
                      </a:r>
                      <a:endParaRPr lang="en-US" sz="1200" b="0" i="0" u="none" strike="noStrike" dirty="0">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extLst>
                  <a:ext uri="{0D108BD9-81ED-4DB2-BD59-A6C34878D82A}">
                    <a16:rowId xmlns:a16="http://schemas.microsoft.com/office/drawing/2014/main" val="3984178394"/>
                  </a:ext>
                </a:extLst>
              </a:tr>
              <a:tr h="219685">
                <a:tc vMerge="1">
                  <a:txBody>
                    <a:bodyPr/>
                    <a:lstStyle/>
                    <a:p>
                      <a:endParaRPr lang="pt-PT"/>
                    </a:p>
                  </a:txBody>
                  <a:tcPr/>
                </a:tc>
                <a:tc>
                  <a:txBody>
                    <a:bodyPr/>
                    <a:lstStyle/>
                    <a:p>
                      <a:pPr algn="ctr" fontAlgn="t">
                        <a:spcBef>
                          <a:spcPts val="0"/>
                        </a:spcBef>
                        <a:spcAft>
                          <a:spcPts val="0"/>
                        </a:spcAft>
                      </a:pPr>
                      <a:r>
                        <a:rPr lang="en-US" sz="800" u="none" strike="noStrike">
                          <a:effectLst/>
                        </a:rPr>
                        <a:t>V6</a:t>
                      </a:r>
                      <a:endParaRPr lang="en-US" sz="18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dirty="0">
                          <a:effectLst/>
                        </a:rPr>
                        <a:t> </a:t>
                      </a:r>
                      <a:endParaRPr lang="en-US" sz="1200" b="0" i="0" u="none" strike="noStrike" dirty="0">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extLst>
                  <a:ext uri="{0D108BD9-81ED-4DB2-BD59-A6C34878D82A}">
                    <a16:rowId xmlns:a16="http://schemas.microsoft.com/office/drawing/2014/main" val="370383901"/>
                  </a:ext>
                </a:extLst>
              </a:tr>
              <a:tr h="219685">
                <a:tc vMerge="1">
                  <a:txBody>
                    <a:bodyPr/>
                    <a:lstStyle/>
                    <a:p>
                      <a:endParaRPr lang="pt-PT"/>
                    </a:p>
                  </a:txBody>
                  <a:tcPr/>
                </a:tc>
                <a:tc>
                  <a:txBody>
                    <a:bodyPr/>
                    <a:lstStyle/>
                    <a:p>
                      <a:pPr algn="ctr" fontAlgn="t">
                        <a:spcBef>
                          <a:spcPts val="0"/>
                        </a:spcBef>
                        <a:spcAft>
                          <a:spcPts val="0"/>
                        </a:spcAft>
                      </a:pPr>
                      <a:r>
                        <a:rPr lang="en-US" sz="800" u="none" strike="noStrike">
                          <a:effectLst/>
                        </a:rPr>
                        <a:t>V7</a:t>
                      </a:r>
                      <a:endParaRPr lang="en-US" sz="18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dirty="0">
                          <a:effectLst/>
                        </a:rPr>
                        <a:t> </a:t>
                      </a:r>
                      <a:endParaRPr lang="en-US" sz="1200" b="0" i="0" u="none" strike="noStrike" dirty="0">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extLst>
                  <a:ext uri="{0D108BD9-81ED-4DB2-BD59-A6C34878D82A}">
                    <a16:rowId xmlns:a16="http://schemas.microsoft.com/office/drawing/2014/main" val="586540444"/>
                  </a:ext>
                </a:extLst>
              </a:tr>
              <a:tr h="219685">
                <a:tc vMerge="1">
                  <a:txBody>
                    <a:bodyPr/>
                    <a:lstStyle/>
                    <a:p>
                      <a:endParaRPr lang="pt-PT"/>
                    </a:p>
                  </a:txBody>
                  <a:tcPr/>
                </a:tc>
                <a:tc>
                  <a:txBody>
                    <a:bodyPr/>
                    <a:lstStyle/>
                    <a:p>
                      <a:pPr algn="ctr" fontAlgn="t">
                        <a:spcBef>
                          <a:spcPts val="0"/>
                        </a:spcBef>
                        <a:spcAft>
                          <a:spcPts val="0"/>
                        </a:spcAft>
                      </a:pPr>
                      <a:r>
                        <a:rPr lang="en-US" sz="800" u="none" strike="noStrike">
                          <a:effectLst/>
                        </a:rPr>
                        <a:t>V8</a:t>
                      </a:r>
                      <a:endParaRPr lang="en-US" sz="18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 </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dirty="0">
                          <a:effectLst/>
                        </a:rPr>
                        <a:t>X</a:t>
                      </a:r>
                      <a:endParaRPr lang="en-US" sz="1200" b="0" i="0" u="none" strike="noStrike" dirty="0">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dirty="0">
                          <a:effectLst/>
                        </a:rPr>
                        <a:t>X</a:t>
                      </a:r>
                      <a:endParaRPr lang="en-US" sz="1200" b="0" i="0" u="none" strike="noStrike" dirty="0">
                        <a:effectLst/>
                        <a:latin typeface="Arial" panose="020B0604020202020204" pitchFamily="34" charset="0"/>
                      </a:endParaRPr>
                    </a:p>
                  </a:txBody>
                  <a:tcPr marL="68580" marR="68580" marT="6350" marB="0"/>
                </a:tc>
                <a:extLst>
                  <a:ext uri="{0D108BD9-81ED-4DB2-BD59-A6C34878D82A}">
                    <a16:rowId xmlns:a16="http://schemas.microsoft.com/office/drawing/2014/main" val="2073679697"/>
                  </a:ext>
                </a:extLst>
              </a:tr>
              <a:tr h="219685">
                <a:tc vMerge="1">
                  <a:txBody>
                    <a:bodyPr/>
                    <a:lstStyle/>
                    <a:p>
                      <a:endParaRPr lang="pt-PT"/>
                    </a:p>
                  </a:txBody>
                  <a:tcPr/>
                </a:tc>
                <a:tc>
                  <a:txBody>
                    <a:bodyPr/>
                    <a:lstStyle/>
                    <a:p>
                      <a:pPr algn="ctr" fontAlgn="t">
                        <a:spcBef>
                          <a:spcPts val="0"/>
                        </a:spcBef>
                        <a:spcAft>
                          <a:spcPts val="0"/>
                        </a:spcAft>
                      </a:pPr>
                      <a:r>
                        <a:rPr lang="en-US" sz="800" u="none" strike="noStrike">
                          <a:effectLst/>
                        </a:rPr>
                        <a:t>V9</a:t>
                      </a:r>
                      <a:endParaRPr lang="en-US" sz="18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 </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dirty="0">
                          <a:effectLst/>
                        </a:rPr>
                        <a:t>X</a:t>
                      </a:r>
                      <a:endParaRPr lang="en-US" sz="1200" b="0" i="0" u="none" strike="noStrike" dirty="0">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extLst>
                  <a:ext uri="{0D108BD9-81ED-4DB2-BD59-A6C34878D82A}">
                    <a16:rowId xmlns:a16="http://schemas.microsoft.com/office/drawing/2014/main" val="1825608467"/>
                  </a:ext>
                </a:extLst>
              </a:tr>
              <a:tr h="219685">
                <a:tc vMerge="1">
                  <a:txBody>
                    <a:bodyPr/>
                    <a:lstStyle/>
                    <a:p>
                      <a:endParaRPr lang="pt-PT"/>
                    </a:p>
                  </a:txBody>
                  <a:tcPr/>
                </a:tc>
                <a:tc>
                  <a:txBody>
                    <a:bodyPr/>
                    <a:lstStyle/>
                    <a:p>
                      <a:pPr algn="ctr" fontAlgn="t">
                        <a:spcBef>
                          <a:spcPts val="0"/>
                        </a:spcBef>
                        <a:spcAft>
                          <a:spcPts val="0"/>
                        </a:spcAft>
                      </a:pPr>
                      <a:r>
                        <a:rPr lang="en-US" sz="800" u="none" strike="noStrike">
                          <a:effectLst/>
                        </a:rPr>
                        <a:t>V10</a:t>
                      </a:r>
                      <a:endParaRPr lang="en-US" sz="18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 </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dirty="0">
                          <a:effectLst/>
                        </a:rPr>
                        <a:t>X</a:t>
                      </a:r>
                      <a:endParaRPr lang="en-US" sz="1200" b="0" i="0" u="none" strike="noStrike" dirty="0">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extLst>
                  <a:ext uri="{0D108BD9-81ED-4DB2-BD59-A6C34878D82A}">
                    <a16:rowId xmlns:a16="http://schemas.microsoft.com/office/drawing/2014/main" val="3083154362"/>
                  </a:ext>
                </a:extLst>
              </a:tr>
              <a:tr h="219685">
                <a:tc vMerge="1">
                  <a:txBody>
                    <a:bodyPr/>
                    <a:lstStyle/>
                    <a:p>
                      <a:endParaRPr lang="pt-PT"/>
                    </a:p>
                  </a:txBody>
                  <a:tcPr/>
                </a:tc>
                <a:tc>
                  <a:txBody>
                    <a:bodyPr/>
                    <a:lstStyle/>
                    <a:p>
                      <a:pPr algn="ctr" fontAlgn="t">
                        <a:spcBef>
                          <a:spcPts val="0"/>
                        </a:spcBef>
                        <a:spcAft>
                          <a:spcPts val="0"/>
                        </a:spcAft>
                      </a:pPr>
                      <a:r>
                        <a:rPr lang="en-US" sz="800" u="none" strike="noStrike">
                          <a:effectLst/>
                        </a:rPr>
                        <a:t>V11</a:t>
                      </a:r>
                      <a:endParaRPr lang="en-US" sz="18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 </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 </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dirty="0">
                          <a:effectLst/>
                        </a:rPr>
                        <a:t>X</a:t>
                      </a:r>
                      <a:endParaRPr lang="en-US" sz="1200" b="0" i="0" u="none" strike="noStrike" dirty="0">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extLst>
                  <a:ext uri="{0D108BD9-81ED-4DB2-BD59-A6C34878D82A}">
                    <a16:rowId xmlns:a16="http://schemas.microsoft.com/office/drawing/2014/main" val="3678600400"/>
                  </a:ext>
                </a:extLst>
              </a:tr>
              <a:tr h="219685">
                <a:tc vMerge="1">
                  <a:txBody>
                    <a:bodyPr/>
                    <a:lstStyle/>
                    <a:p>
                      <a:endParaRPr lang="pt-PT"/>
                    </a:p>
                  </a:txBody>
                  <a:tcPr/>
                </a:tc>
                <a:tc>
                  <a:txBody>
                    <a:bodyPr/>
                    <a:lstStyle/>
                    <a:p>
                      <a:pPr algn="ctr" fontAlgn="t">
                        <a:spcBef>
                          <a:spcPts val="0"/>
                        </a:spcBef>
                        <a:spcAft>
                          <a:spcPts val="0"/>
                        </a:spcAft>
                      </a:pPr>
                      <a:r>
                        <a:rPr lang="en-US" sz="800" u="none" strike="noStrike">
                          <a:effectLst/>
                        </a:rPr>
                        <a:t>V12</a:t>
                      </a:r>
                      <a:endParaRPr lang="en-US" sz="18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 </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 </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 </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dirty="0">
                          <a:effectLst/>
                        </a:rPr>
                        <a:t>X</a:t>
                      </a:r>
                      <a:endParaRPr lang="en-US" sz="1200" b="0" i="0" u="none" strike="noStrike" dirty="0">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dirty="0">
                          <a:effectLst/>
                        </a:rPr>
                        <a:t>X</a:t>
                      </a:r>
                      <a:endParaRPr lang="en-US" sz="1200" b="0" i="0" u="none" strike="noStrike" dirty="0">
                        <a:effectLst/>
                        <a:latin typeface="Arial" panose="020B0604020202020204" pitchFamily="34" charset="0"/>
                      </a:endParaRPr>
                    </a:p>
                  </a:txBody>
                  <a:tcPr marL="68580" marR="68580" marT="6350" marB="0"/>
                </a:tc>
                <a:extLst>
                  <a:ext uri="{0D108BD9-81ED-4DB2-BD59-A6C34878D82A}">
                    <a16:rowId xmlns:a16="http://schemas.microsoft.com/office/drawing/2014/main" val="1430637485"/>
                  </a:ext>
                </a:extLst>
              </a:tr>
              <a:tr h="219685">
                <a:tc vMerge="1">
                  <a:txBody>
                    <a:bodyPr/>
                    <a:lstStyle/>
                    <a:p>
                      <a:endParaRPr lang="pt-PT"/>
                    </a:p>
                  </a:txBody>
                  <a:tcPr/>
                </a:tc>
                <a:tc>
                  <a:txBody>
                    <a:bodyPr/>
                    <a:lstStyle/>
                    <a:p>
                      <a:pPr algn="ctr" fontAlgn="t">
                        <a:spcBef>
                          <a:spcPts val="0"/>
                        </a:spcBef>
                        <a:spcAft>
                          <a:spcPts val="0"/>
                        </a:spcAft>
                      </a:pPr>
                      <a:r>
                        <a:rPr lang="en-US" sz="800" u="none" strike="noStrike">
                          <a:effectLst/>
                        </a:rPr>
                        <a:t>V13</a:t>
                      </a:r>
                      <a:endParaRPr lang="en-US" sz="18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 </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dirty="0">
                          <a:effectLst/>
                        </a:rPr>
                        <a:t> </a:t>
                      </a:r>
                      <a:endParaRPr lang="en-US" sz="1200" b="0" i="0" u="none" strike="noStrike" dirty="0">
                        <a:effectLst/>
                        <a:latin typeface="Arial" panose="020B0604020202020204" pitchFamily="34" charset="0"/>
                      </a:endParaRPr>
                    </a:p>
                  </a:txBody>
                  <a:tcPr marL="68580" marR="68580" marT="6350" marB="0"/>
                </a:tc>
                <a:extLst>
                  <a:ext uri="{0D108BD9-81ED-4DB2-BD59-A6C34878D82A}">
                    <a16:rowId xmlns:a16="http://schemas.microsoft.com/office/drawing/2014/main" val="3206360111"/>
                  </a:ext>
                </a:extLst>
              </a:tr>
              <a:tr h="219685">
                <a:tc vMerge="1">
                  <a:txBody>
                    <a:bodyPr/>
                    <a:lstStyle/>
                    <a:p>
                      <a:endParaRPr lang="pt-PT"/>
                    </a:p>
                  </a:txBody>
                  <a:tcPr/>
                </a:tc>
                <a:tc>
                  <a:txBody>
                    <a:bodyPr/>
                    <a:lstStyle/>
                    <a:p>
                      <a:pPr algn="ctr" fontAlgn="t">
                        <a:spcBef>
                          <a:spcPts val="0"/>
                        </a:spcBef>
                        <a:spcAft>
                          <a:spcPts val="0"/>
                        </a:spcAft>
                      </a:pPr>
                      <a:r>
                        <a:rPr lang="en-US" sz="800" u="none" strike="noStrike">
                          <a:effectLst/>
                        </a:rPr>
                        <a:t>V14</a:t>
                      </a:r>
                      <a:endParaRPr lang="en-US" sz="18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 </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 </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 </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dirty="0">
                          <a:effectLst/>
                        </a:rPr>
                        <a:t> </a:t>
                      </a:r>
                      <a:endParaRPr lang="en-US" sz="1200" b="0" i="0" u="none" strike="noStrike" dirty="0">
                        <a:effectLst/>
                        <a:latin typeface="Arial" panose="020B0604020202020204" pitchFamily="34" charset="0"/>
                      </a:endParaRPr>
                    </a:p>
                  </a:txBody>
                  <a:tcPr marL="68580" marR="68580" marT="6350" marB="0"/>
                </a:tc>
                <a:extLst>
                  <a:ext uri="{0D108BD9-81ED-4DB2-BD59-A6C34878D82A}">
                    <a16:rowId xmlns:a16="http://schemas.microsoft.com/office/drawing/2014/main" val="1232340320"/>
                  </a:ext>
                </a:extLst>
              </a:tr>
              <a:tr h="219685">
                <a:tc vMerge="1">
                  <a:txBody>
                    <a:bodyPr/>
                    <a:lstStyle/>
                    <a:p>
                      <a:endParaRPr lang="pt-PT"/>
                    </a:p>
                  </a:txBody>
                  <a:tcPr/>
                </a:tc>
                <a:tc>
                  <a:txBody>
                    <a:bodyPr/>
                    <a:lstStyle/>
                    <a:p>
                      <a:pPr algn="ctr" fontAlgn="t">
                        <a:spcBef>
                          <a:spcPts val="0"/>
                        </a:spcBef>
                        <a:spcAft>
                          <a:spcPts val="0"/>
                        </a:spcAft>
                      </a:pPr>
                      <a:r>
                        <a:rPr lang="en-US" sz="800" u="none" strike="noStrike">
                          <a:effectLst/>
                        </a:rPr>
                        <a:t>V15</a:t>
                      </a:r>
                      <a:endParaRPr lang="en-US" sz="18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 </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 </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 </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dirty="0">
                          <a:effectLst/>
                        </a:rPr>
                        <a:t> </a:t>
                      </a:r>
                      <a:endParaRPr lang="en-US" sz="1200" b="0" i="0" u="none" strike="noStrike" dirty="0">
                        <a:effectLst/>
                        <a:latin typeface="Arial" panose="020B0604020202020204" pitchFamily="34" charset="0"/>
                      </a:endParaRPr>
                    </a:p>
                  </a:txBody>
                  <a:tcPr marL="68580" marR="68580" marT="6350" marB="0"/>
                </a:tc>
                <a:extLst>
                  <a:ext uri="{0D108BD9-81ED-4DB2-BD59-A6C34878D82A}">
                    <a16:rowId xmlns:a16="http://schemas.microsoft.com/office/drawing/2014/main" val="3741383595"/>
                  </a:ext>
                </a:extLst>
              </a:tr>
              <a:tr h="219685">
                <a:tc vMerge="1">
                  <a:txBody>
                    <a:bodyPr/>
                    <a:lstStyle/>
                    <a:p>
                      <a:endParaRPr lang="pt-PT"/>
                    </a:p>
                  </a:txBody>
                  <a:tcPr/>
                </a:tc>
                <a:tc>
                  <a:txBody>
                    <a:bodyPr/>
                    <a:lstStyle/>
                    <a:p>
                      <a:pPr algn="ctr" fontAlgn="t">
                        <a:spcBef>
                          <a:spcPts val="0"/>
                        </a:spcBef>
                        <a:spcAft>
                          <a:spcPts val="0"/>
                        </a:spcAft>
                      </a:pPr>
                      <a:r>
                        <a:rPr lang="en-US" sz="800" u="none" strike="noStrike">
                          <a:effectLst/>
                        </a:rPr>
                        <a:t>V16</a:t>
                      </a:r>
                      <a:endParaRPr lang="en-US" sz="18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 </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 </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dirty="0">
                          <a:effectLst/>
                        </a:rPr>
                        <a:t> </a:t>
                      </a:r>
                      <a:endParaRPr lang="en-US" sz="1200" b="0" i="0" u="none" strike="noStrike" dirty="0">
                        <a:effectLst/>
                        <a:latin typeface="Arial" panose="020B0604020202020204" pitchFamily="34" charset="0"/>
                      </a:endParaRPr>
                    </a:p>
                  </a:txBody>
                  <a:tcPr marL="68580" marR="68580" marT="6350" marB="0"/>
                </a:tc>
                <a:extLst>
                  <a:ext uri="{0D108BD9-81ED-4DB2-BD59-A6C34878D82A}">
                    <a16:rowId xmlns:a16="http://schemas.microsoft.com/office/drawing/2014/main" val="2426789410"/>
                  </a:ext>
                </a:extLst>
              </a:tr>
              <a:tr h="219685">
                <a:tc vMerge="1">
                  <a:txBody>
                    <a:bodyPr/>
                    <a:lstStyle/>
                    <a:p>
                      <a:endParaRPr lang="pt-PT"/>
                    </a:p>
                  </a:txBody>
                  <a:tcPr/>
                </a:tc>
                <a:tc>
                  <a:txBody>
                    <a:bodyPr/>
                    <a:lstStyle/>
                    <a:p>
                      <a:pPr algn="ctr" fontAlgn="t">
                        <a:spcBef>
                          <a:spcPts val="0"/>
                        </a:spcBef>
                        <a:spcAft>
                          <a:spcPts val="0"/>
                        </a:spcAft>
                      </a:pPr>
                      <a:r>
                        <a:rPr lang="en-US" sz="800" u="none" strike="noStrike">
                          <a:effectLst/>
                        </a:rPr>
                        <a:t>V17</a:t>
                      </a:r>
                      <a:endParaRPr lang="en-US" sz="18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X</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 </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a:effectLst/>
                        </a:rPr>
                        <a:t> </a:t>
                      </a:r>
                      <a:endParaRPr lang="en-US" sz="1200" b="0" i="0" u="none" strike="noStrike">
                        <a:effectLst/>
                        <a:latin typeface="Arial" panose="020B0604020202020204" pitchFamily="34" charset="0"/>
                      </a:endParaRPr>
                    </a:p>
                  </a:txBody>
                  <a:tcPr marL="68580" marR="68580" marT="6350" marB="0"/>
                </a:tc>
                <a:tc>
                  <a:txBody>
                    <a:bodyPr/>
                    <a:lstStyle/>
                    <a:p>
                      <a:pPr algn="ctr" fontAlgn="t">
                        <a:spcBef>
                          <a:spcPts val="0"/>
                        </a:spcBef>
                        <a:spcAft>
                          <a:spcPts val="0"/>
                        </a:spcAft>
                      </a:pPr>
                      <a:r>
                        <a:rPr lang="en-US" sz="1200" u="none" strike="noStrike" dirty="0">
                          <a:effectLst/>
                        </a:rPr>
                        <a:t> </a:t>
                      </a:r>
                      <a:endParaRPr lang="en-US" sz="1200" b="0" i="0" u="none" strike="noStrike" dirty="0">
                        <a:effectLst/>
                        <a:latin typeface="Arial" panose="020B0604020202020204" pitchFamily="34" charset="0"/>
                      </a:endParaRPr>
                    </a:p>
                  </a:txBody>
                  <a:tcPr marL="68580" marR="68580" marT="6350" marB="0"/>
                </a:tc>
                <a:extLst>
                  <a:ext uri="{0D108BD9-81ED-4DB2-BD59-A6C34878D82A}">
                    <a16:rowId xmlns:a16="http://schemas.microsoft.com/office/drawing/2014/main" val="2129882342"/>
                  </a:ext>
                </a:extLst>
              </a:tr>
            </a:tbl>
          </a:graphicData>
        </a:graphic>
      </p:graphicFrame>
    </p:spTree>
    <p:extLst>
      <p:ext uri="{BB962C8B-B14F-4D97-AF65-F5344CB8AC3E}">
        <p14:creationId xmlns:p14="http://schemas.microsoft.com/office/powerpoint/2010/main" val="733146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984F4F-D9CA-4847-AEF0-6B22EA3EF3F9}"/>
              </a:ext>
            </a:extLst>
          </p:cNvPr>
          <p:cNvSpPr>
            <a:spLocks noGrp="1"/>
          </p:cNvSpPr>
          <p:nvPr>
            <p:ph type="title"/>
          </p:nvPr>
        </p:nvSpPr>
        <p:spPr/>
        <p:txBody>
          <a:bodyPr/>
          <a:lstStyle/>
          <a:p>
            <a:r>
              <a:rPr lang="en-GB" sz="4400" b="1" dirty="0">
                <a:effectLst/>
                <a:latin typeface="Times New Roman" panose="02020603050405020304" pitchFamily="18" charset="0"/>
                <a:ea typeface="SimSun" panose="02010600030101010101" pitchFamily="2" charset="-122"/>
              </a:rPr>
              <a:t>Software Change Management (SCM) process for flexibility and easy adaptation</a:t>
            </a:r>
            <a:endParaRPr lang="pt-PT" dirty="0"/>
          </a:p>
        </p:txBody>
      </p:sp>
      <p:pic>
        <p:nvPicPr>
          <p:cNvPr id="7" name="Marcador de Posição de Conteúdo 6">
            <a:extLst>
              <a:ext uri="{FF2B5EF4-FFF2-40B4-BE49-F238E27FC236}">
                <a16:creationId xmlns:a16="http://schemas.microsoft.com/office/drawing/2014/main" id="{596036EF-C5C1-4772-AEFE-EF7F2704F08E}"/>
              </a:ext>
            </a:extLst>
          </p:cNvPr>
          <p:cNvPicPr>
            <a:picLocks noGrp="1" noChangeAspect="1"/>
          </p:cNvPicPr>
          <p:nvPr>
            <p:ph idx="1"/>
          </p:nvPr>
        </p:nvPicPr>
        <p:blipFill>
          <a:blip r:embed="rId3"/>
          <a:stretch>
            <a:fillRect/>
          </a:stretch>
        </p:blipFill>
        <p:spPr>
          <a:xfrm>
            <a:off x="2487345" y="1690688"/>
            <a:ext cx="3847385" cy="4351338"/>
          </a:xfrm>
        </p:spPr>
      </p:pic>
      <p:sp>
        <p:nvSpPr>
          <p:cNvPr id="4" name="Marcador de Posição do Rodapé 3">
            <a:extLst>
              <a:ext uri="{FF2B5EF4-FFF2-40B4-BE49-F238E27FC236}">
                <a16:creationId xmlns:a16="http://schemas.microsoft.com/office/drawing/2014/main" id="{576DC26E-E9EA-40D2-BA0A-4035E0FFEDD2}"/>
              </a:ext>
            </a:extLst>
          </p:cNvPr>
          <p:cNvSpPr>
            <a:spLocks noGrp="1"/>
          </p:cNvSpPr>
          <p:nvPr>
            <p:ph type="ftr" sz="quarter" idx="11"/>
          </p:nvPr>
        </p:nvSpPr>
        <p:spPr/>
        <p:txBody>
          <a:bodyPr/>
          <a:lstStyle/>
          <a:p>
            <a:r>
              <a:rPr lang="pt-PT"/>
              <a:t>RE4SuSY 2020</a:t>
            </a:r>
          </a:p>
        </p:txBody>
      </p:sp>
      <p:sp>
        <p:nvSpPr>
          <p:cNvPr id="5" name="Marcador de Posição do Número do Diapositivo 4">
            <a:extLst>
              <a:ext uri="{FF2B5EF4-FFF2-40B4-BE49-F238E27FC236}">
                <a16:creationId xmlns:a16="http://schemas.microsoft.com/office/drawing/2014/main" id="{036B7D6E-22B0-4B5A-B17C-C6B8DF71DE8D}"/>
              </a:ext>
            </a:extLst>
          </p:cNvPr>
          <p:cNvSpPr>
            <a:spLocks noGrp="1"/>
          </p:cNvSpPr>
          <p:nvPr>
            <p:ph type="sldNum" sz="quarter" idx="12"/>
          </p:nvPr>
        </p:nvSpPr>
        <p:spPr/>
        <p:txBody>
          <a:bodyPr/>
          <a:lstStyle/>
          <a:p>
            <a:fld id="{36C2C8C4-90B5-4523-B1E5-1120D41CAE7D}" type="slidenum">
              <a:rPr lang="pt-PT" smtClean="0"/>
              <a:t>14</a:t>
            </a:fld>
            <a:endParaRPr lang="pt-PT"/>
          </a:p>
        </p:txBody>
      </p:sp>
      <p:pic>
        <p:nvPicPr>
          <p:cNvPr id="9" name="Imagem 8">
            <a:extLst>
              <a:ext uri="{FF2B5EF4-FFF2-40B4-BE49-F238E27FC236}">
                <a16:creationId xmlns:a16="http://schemas.microsoft.com/office/drawing/2014/main" id="{31161C67-20AA-49B3-B98C-58285856953E}"/>
              </a:ext>
            </a:extLst>
          </p:cNvPr>
          <p:cNvPicPr>
            <a:picLocks noChangeAspect="1"/>
          </p:cNvPicPr>
          <p:nvPr/>
        </p:nvPicPr>
        <p:blipFill>
          <a:blip r:embed="rId4"/>
          <a:stretch>
            <a:fillRect/>
          </a:stretch>
        </p:blipFill>
        <p:spPr>
          <a:xfrm>
            <a:off x="1342863" y="1690688"/>
            <a:ext cx="8033163" cy="4616687"/>
          </a:xfrm>
          <a:prstGeom prst="rect">
            <a:avLst/>
          </a:prstGeom>
        </p:spPr>
      </p:pic>
      <p:sp>
        <p:nvSpPr>
          <p:cNvPr id="10" name="CaixaDeTexto 9">
            <a:extLst>
              <a:ext uri="{FF2B5EF4-FFF2-40B4-BE49-F238E27FC236}">
                <a16:creationId xmlns:a16="http://schemas.microsoft.com/office/drawing/2014/main" id="{2AC79E35-9E52-45D9-995C-932DFA5591E5}"/>
              </a:ext>
            </a:extLst>
          </p:cNvPr>
          <p:cNvSpPr txBox="1"/>
          <p:nvPr/>
        </p:nvSpPr>
        <p:spPr>
          <a:xfrm>
            <a:off x="319489" y="5949108"/>
            <a:ext cx="4968607" cy="369332"/>
          </a:xfrm>
          <a:prstGeom prst="rect">
            <a:avLst/>
          </a:prstGeom>
          <a:noFill/>
        </p:spPr>
        <p:txBody>
          <a:bodyPr wrap="square" rtlCol="0">
            <a:spAutoFit/>
          </a:bodyPr>
          <a:lstStyle/>
          <a:p>
            <a:r>
              <a:rPr lang="en-US" sz="1800" b="1" i="1" dirty="0">
                <a:effectLst/>
                <a:latin typeface="Times New Roman" panose="02020603050405020304" pitchFamily="18" charset="0"/>
                <a:ea typeface="Times New Roman" panose="02020603050405020304" pitchFamily="18" charset="0"/>
              </a:rPr>
              <a:t>No change management process</a:t>
            </a:r>
            <a:r>
              <a:rPr lang="en-US" sz="1800" dirty="0">
                <a:effectLst/>
                <a:latin typeface="Times New Roman" panose="02020603050405020304" pitchFamily="18" charset="0"/>
                <a:ea typeface="Times New Roman" panose="02020603050405020304" pitchFamily="18" charset="0"/>
              </a:rPr>
              <a:t> (V1)</a:t>
            </a:r>
            <a:endParaRPr lang="pt-PT" dirty="0"/>
          </a:p>
        </p:txBody>
      </p:sp>
      <p:sp>
        <p:nvSpPr>
          <p:cNvPr id="11" name="CaixaDeTexto 10">
            <a:extLst>
              <a:ext uri="{FF2B5EF4-FFF2-40B4-BE49-F238E27FC236}">
                <a16:creationId xmlns:a16="http://schemas.microsoft.com/office/drawing/2014/main" id="{D16BC8DE-A3F8-430C-B299-2353CCC7DCDA}"/>
              </a:ext>
            </a:extLst>
          </p:cNvPr>
          <p:cNvSpPr txBox="1"/>
          <p:nvPr/>
        </p:nvSpPr>
        <p:spPr>
          <a:xfrm>
            <a:off x="3382677" y="5431316"/>
            <a:ext cx="6070893" cy="369332"/>
          </a:xfrm>
          <a:prstGeom prst="rect">
            <a:avLst/>
          </a:prstGeom>
          <a:noFill/>
        </p:spPr>
        <p:txBody>
          <a:bodyPr wrap="none" rtlCol="0">
            <a:spAutoFit/>
          </a:bodyPr>
          <a:lstStyle/>
          <a:p>
            <a:r>
              <a:rPr lang="en-US" sz="1800" b="1" i="1" dirty="0">
                <a:effectLst/>
                <a:latin typeface="Times New Roman" panose="02020603050405020304" pitchFamily="18" charset="0"/>
                <a:ea typeface="Times New Roman" panose="02020603050405020304" pitchFamily="18" charset="0"/>
              </a:rPr>
              <a:t>Software product shall be flexible and easy to be adapted</a:t>
            </a:r>
            <a:r>
              <a:rPr lang="en-US" sz="1800" dirty="0">
                <a:effectLst/>
                <a:latin typeface="Times New Roman" panose="02020603050405020304" pitchFamily="18" charset="0"/>
                <a:ea typeface="Times New Roman" panose="02020603050405020304" pitchFamily="18" charset="0"/>
              </a:rPr>
              <a:t> (G1)</a:t>
            </a:r>
            <a:endParaRPr lang="pt-PT" dirty="0"/>
          </a:p>
        </p:txBody>
      </p:sp>
      <p:sp>
        <p:nvSpPr>
          <p:cNvPr id="12" name="CaixaDeTexto 11">
            <a:extLst>
              <a:ext uri="{FF2B5EF4-FFF2-40B4-BE49-F238E27FC236}">
                <a16:creationId xmlns:a16="http://schemas.microsoft.com/office/drawing/2014/main" id="{F484F017-F14B-48F1-9216-4FBFEF835465}"/>
              </a:ext>
            </a:extLst>
          </p:cNvPr>
          <p:cNvSpPr txBox="1"/>
          <p:nvPr/>
        </p:nvSpPr>
        <p:spPr>
          <a:xfrm>
            <a:off x="7609687" y="3429000"/>
            <a:ext cx="3260992" cy="923330"/>
          </a:xfrm>
          <a:prstGeom prst="rect">
            <a:avLst/>
          </a:prstGeom>
          <a:noFill/>
        </p:spPr>
        <p:txBody>
          <a:bodyPr wrap="square" rtlCol="0">
            <a:spAutoFit/>
          </a:bodyPr>
          <a:lstStyle/>
          <a:p>
            <a:r>
              <a:rPr lang="en-GB" sz="1800" b="1" dirty="0">
                <a:effectLst/>
                <a:latin typeface="Times New Roman" panose="02020603050405020304" pitchFamily="18" charset="0"/>
                <a:ea typeface="SimSun" panose="02010600030101010101" pitchFamily="2" charset="-122"/>
              </a:rPr>
              <a:t>(S1) Implement a Software Change Management (SCM) process</a:t>
            </a:r>
            <a:endParaRPr lang="pt-PT" dirty="0"/>
          </a:p>
        </p:txBody>
      </p:sp>
    </p:spTree>
    <p:extLst>
      <p:ext uri="{BB962C8B-B14F-4D97-AF65-F5344CB8AC3E}">
        <p14:creationId xmlns:p14="http://schemas.microsoft.com/office/powerpoint/2010/main" val="361063714"/>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childTnLst>
                          </p:cTn>
                        </p:par>
                        <p:par>
                          <p:cTn id="10" fill="hold">
                            <p:stCondLst>
                              <p:cond delay="500"/>
                            </p:stCondLst>
                            <p:childTnLst>
                              <p:par>
                                <p:cTn id="11" presetID="1" presetClass="entr" presetSubtype="0" fill="hold" nodeType="afterEffect">
                                  <p:stCondLst>
                                    <p:cond delay="3000"/>
                                  </p:stCondLst>
                                  <p:childTnLst>
                                    <p:set>
                                      <p:cBhvr>
                                        <p:cTn id="12" dur="1" fill="hold">
                                          <p:stCondLst>
                                            <p:cond delay="0"/>
                                          </p:stCondLst>
                                        </p:cTn>
                                        <p:tgtEl>
                                          <p:spTgt spid="9"/>
                                        </p:tgtEl>
                                        <p:attrNameLst>
                                          <p:attrName>style.visibility</p:attrName>
                                        </p:attrNameLst>
                                      </p:cBhvr>
                                      <p:to>
                                        <p:strVal val="visible"/>
                                      </p:to>
                                    </p:set>
                                  </p:childTnLst>
                                  <p:subTnLst>
                                    <p:audio>
                                      <p:cMediaNode>
                                        <p:cTn display="0" masterRel="sameClick">
                                          <p:stCondLst>
                                            <p:cond evt="begin" delay="0">
                                              <p:tn val="11"/>
                                            </p:cond>
                                          </p:stCondLst>
                                          <p:endCondLst>
                                            <p:cond evt="onStopAudio" delay="0">
                                              <p:tgtEl>
                                                <p:sldTgt/>
                                              </p:tgtEl>
                                            </p:cond>
                                          </p:endCondLst>
                                        </p:cTn>
                                        <p:tgtEl>
                                          <p:sndTgt r:embed="rId2" name="explode.wav"/>
                                        </p:tgtEl>
                                      </p:cMediaNode>
                                    </p:audio>
                                  </p:subTnLst>
                                </p:cTn>
                              </p:par>
                            </p:childTnLst>
                          </p:cTn>
                        </p:par>
                        <p:par>
                          <p:cTn id="13" fill="hold">
                            <p:stCondLst>
                              <p:cond delay="3500"/>
                            </p:stCondLst>
                            <p:childTnLst>
                              <p:par>
                                <p:cTn id="14" presetID="1"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par>
                          <p:cTn id="16" fill="hold">
                            <p:stCondLst>
                              <p:cond delay="3500"/>
                            </p:stCondLst>
                            <p:childTnLst>
                              <p:par>
                                <p:cTn id="17" presetID="10" presetClass="entr" presetSubtype="0"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038AE6-AA62-4B76-A885-E85AAFB9A2CB}"/>
              </a:ext>
            </a:extLst>
          </p:cNvPr>
          <p:cNvSpPr>
            <a:spLocks noGrp="1"/>
          </p:cNvSpPr>
          <p:nvPr>
            <p:ph type="title"/>
          </p:nvPr>
        </p:nvSpPr>
        <p:spPr/>
        <p:txBody>
          <a:bodyPr/>
          <a:lstStyle/>
          <a:p>
            <a:r>
              <a:rPr lang="pt-PT" b="1" dirty="0" err="1"/>
              <a:t>Main</a:t>
            </a:r>
            <a:r>
              <a:rPr lang="pt-PT" dirty="0"/>
              <a:t> </a:t>
            </a:r>
            <a:r>
              <a:rPr lang="pt-PT" b="1" dirty="0" err="1"/>
              <a:t>contributions</a:t>
            </a:r>
            <a:endParaRPr lang="pt-PT" b="1" dirty="0"/>
          </a:p>
        </p:txBody>
      </p:sp>
      <p:sp>
        <p:nvSpPr>
          <p:cNvPr id="3" name="Marcador de Posição do Rodapé 2">
            <a:extLst>
              <a:ext uri="{FF2B5EF4-FFF2-40B4-BE49-F238E27FC236}">
                <a16:creationId xmlns:a16="http://schemas.microsoft.com/office/drawing/2014/main" id="{624C7F44-9E16-4DBD-9CCD-D6CB0DCF2F80}"/>
              </a:ext>
            </a:extLst>
          </p:cNvPr>
          <p:cNvSpPr>
            <a:spLocks noGrp="1"/>
          </p:cNvSpPr>
          <p:nvPr>
            <p:ph type="ftr" sz="quarter" idx="11"/>
          </p:nvPr>
        </p:nvSpPr>
        <p:spPr/>
        <p:txBody>
          <a:bodyPr/>
          <a:lstStyle/>
          <a:p>
            <a:r>
              <a:rPr lang="pt-PT"/>
              <a:t>RE4SuSY 2020</a:t>
            </a:r>
          </a:p>
        </p:txBody>
      </p:sp>
      <p:sp>
        <p:nvSpPr>
          <p:cNvPr id="4" name="Marcador de Posição do Número do Diapositivo 3">
            <a:extLst>
              <a:ext uri="{FF2B5EF4-FFF2-40B4-BE49-F238E27FC236}">
                <a16:creationId xmlns:a16="http://schemas.microsoft.com/office/drawing/2014/main" id="{776FA266-6512-4087-8F08-B2420CF33B16}"/>
              </a:ext>
            </a:extLst>
          </p:cNvPr>
          <p:cNvSpPr>
            <a:spLocks noGrp="1"/>
          </p:cNvSpPr>
          <p:nvPr>
            <p:ph type="sldNum" sz="quarter" idx="12"/>
          </p:nvPr>
        </p:nvSpPr>
        <p:spPr/>
        <p:txBody>
          <a:bodyPr/>
          <a:lstStyle/>
          <a:p>
            <a:fld id="{36C2C8C4-90B5-4523-B1E5-1120D41CAE7D}" type="slidenum">
              <a:rPr lang="pt-PT" smtClean="0"/>
              <a:t>15</a:t>
            </a:fld>
            <a:endParaRPr lang="pt-PT"/>
          </a:p>
        </p:txBody>
      </p:sp>
      <p:sp>
        <p:nvSpPr>
          <p:cNvPr id="5" name="CaixaDeTexto 4">
            <a:extLst>
              <a:ext uri="{FF2B5EF4-FFF2-40B4-BE49-F238E27FC236}">
                <a16:creationId xmlns:a16="http://schemas.microsoft.com/office/drawing/2014/main" id="{45369A9A-28A6-41ED-8A9B-AEF2418EB76D}"/>
              </a:ext>
            </a:extLst>
          </p:cNvPr>
          <p:cNvSpPr txBox="1"/>
          <p:nvPr/>
        </p:nvSpPr>
        <p:spPr>
          <a:xfrm>
            <a:off x="863031" y="1859622"/>
            <a:ext cx="10777589" cy="3046988"/>
          </a:xfrm>
          <a:prstGeom prst="rect">
            <a:avLst/>
          </a:prstGeom>
          <a:noFill/>
        </p:spPr>
        <p:txBody>
          <a:bodyPr wrap="square" rtlCol="0">
            <a:spAutoFit/>
          </a:bodyPr>
          <a:lstStyle/>
          <a:p>
            <a:r>
              <a:rPr lang="en-US" sz="2400" dirty="0">
                <a:effectLst/>
                <a:latin typeface="Times New Roman" panose="02020603050405020304" pitchFamily="18" charset="0"/>
                <a:ea typeface="SimSun" panose="02010600030101010101" pitchFamily="2" charset="-122"/>
              </a:rPr>
              <a:t>Our </a:t>
            </a:r>
            <a:r>
              <a:rPr lang="en-US" sz="2400" b="1" dirty="0">
                <a:solidFill>
                  <a:srgbClr val="00B050"/>
                </a:solidFill>
                <a:effectLst/>
                <a:latin typeface="Times New Roman" panose="02020603050405020304" pitchFamily="18" charset="0"/>
                <a:ea typeface="SimSun" panose="02010600030101010101" pitchFamily="2" charset="-122"/>
              </a:rPr>
              <a:t>first contribution</a:t>
            </a:r>
            <a:r>
              <a:rPr lang="en-US" sz="2400" dirty="0">
                <a:effectLst/>
                <a:latin typeface="Times New Roman" panose="02020603050405020304" pitchFamily="18" charset="0"/>
                <a:ea typeface="SimSun" panose="02010600030101010101" pitchFamily="2" charset="-122"/>
              </a:rPr>
              <a:t> to the field of sustainable software using RE:</a:t>
            </a:r>
          </a:p>
          <a:p>
            <a:r>
              <a:rPr lang="en-US" sz="2400" b="1" dirty="0">
                <a:effectLst/>
                <a:latin typeface="Times New Roman" panose="02020603050405020304" pitchFamily="18" charset="0"/>
                <a:ea typeface="SimSun" panose="02010600030101010101" pitchFamily="2" charset="-122"/>
              </a:rPr>
              <a:t>identifying and specifying vulnerabilities and goals</a:t>
            </a:r>
            <a:r>
              <a:rPr lang="en-US" sz="2400" dirty="0">
                <a:effectLst/>
                <a:latin typeface="Times New Roman" panose="02020603050405020304" pitchFamily="18" charset="0"/>
                <a:ea typeface="SimSun" panose="02010600030101010101" pitchFamily="2" charset="-122"/>
              </a:rPr>
              <a:t> possibly capable to obtain a new generation of more sustainable software, in such a way that even software users might experience a higher level of awareness then today.</a:t>
            </a:r>
          </a:p>
          <a:p>
            <a:endParaRPr lang="en-US" sz="2400" dirty="0">
              <a:latin typeface="Times New Roman" panose="02020603050405020304" pitchFamily="18" charset="0"/>
              <a:ea typeface="SimSun" panose="02010600030101010101" pitchFamily="2" charset="-122"/>
            </a:endParaRPr>
          </a:p>
          <a:p>
            <a:r>
              <a:rPr lang="en-US" sz="2400" b="1" dirty="0">
                <a:solidFill>
                  <a:srgbClr val="00B050"/>
                </a:solidFill>
                <a:effectLst/>
                <a:latin typeface="Times New Roman" panose="02020603050405020304" pitchFamily="18" charset="0"/>
                <a:ea typeface="SimSun" panose="02010600030101010101" pitchFamily="2" charset="-122"/>
              </a:rPr>
              <a:t>Example</a:t>
            </a:r>
            <a:r>
              <a:rPr lang="en-US" sz="2400" dirty="0">
                <a:effectLst/>
                <a:latin typeface="Times New Roman" panose="02020603050405020304" pitchFamily="18" charset="0"/>
                <a:ea typeface="SimSun" panose="02010600030101010101" pitchFamily="2" charset="-122"/>
              </a:rPr>
              <a:t> of applicability:</a:t>
            </a:r>
          </a:p>
          <a:p>
            <a:r>
              <a:rPr lang="en-US" sz="2400" dirty="0">
                <a:effectLst/>
                <a:latin typeface="Times New Roman" panose="02020603050405020304" pitchFamily="18" charset="0"/>
                <a:ea typeface="SimSun" panose="02010600030101010101" pitchFamily="2" charset="-122"/>
              </a:rPr>
              <a:t>the growing number of smartphones [71] and the </a:t>
            </a:r>
            <a:r>
              <a:rPr lang="en-US" sz="2400" b="1" dirty="0">
                <a:effectLst/>
                <a:latin typeface="Times New Roman" panose="02020603050405020304" pitchFamily="18" charset="0"/>
                <a:ea typeface="SimSun" panose="02010600030101010101" pitchFamily="2" charset="-122"/>
              </a:rPr>
              <a:t>high volume of energy consumption</a:t>
            </a:r>
            <a:r>
              <a:rPr lang="en-US" sz="2400" dirty="0">
                <a:effectLst/>
                <a:latin typeface="Times New Roman" panose="02020603050405020304" pitchFamily="18" charset="0"/>
                <a:ea typeface="SimSun" panose="02010600030101010101" pitchFamily="2" charset="-122"/>
              </a:rPr>
              <a:t> they create due to a growing number of mobile software products [63].</a:t>
            </a:r>
            <a:endParaRPr lang="pt-PT" sz="2400" dirty="0"/>
          </a:p>
        </p:txBody>
      </p:sp>
    </p:spTree>
    <p:extLst>
      <p:ext uri="{BB962C8B-B14F-4D97-AF65-F5344CB8AC3E}">
        <p14:creationId xmlns:p14="http://schemas.microsoft.com/office/powerpoint/2010/main" val="35248460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038AE6-AA62-4B76-A885-E85AAFB9A2CB}"/>
              </a:ext>
            </a:extLst>
          </p:cNvPr>
          <p:cNvSpPr>
            <a:spLocks noGrp="1"/>
          </p:cNvSpPr>
          <p:nvPr>
            <p:ph type="title"/>
          </p:nvPr>
        </p:nvSpPr>
        <p:spPr/>
        <p:txBody>
          <a:bodyPr/>
          <a:lstStyle/>
          <a:p>
            <a:r>
              <a:rPr lang="pt-PT" b="1" dirty="0">
                <a:solidFill>
                  <a:schemeClr val="accent6">
                    <a:lumMod val="75000"/>
                  </a:schemeClr>
                </a:solidFill>
              </a:rPr>
              <a:t>Future</a:t>
            </a:r>
            <a:r>
              <a:rPr lang="pt-PT" dirty="0"/>
              <a:t> </a:t>
            </a:r>
            <a:r>
              <a:rPr lang="pt-PT" b="1" dirty="0" err="1">
                <a:solidFill>
                  <a:schemeClr val="accent6">
                    <a:lumMod val="60000"/>
                    <a:lumOff val="40000"/>
                  </a:schemeClr>
                </a:solidFill>
              </a:rPr>
              <a:t>Work</a:t>
            </a:r>
            <a:endParaRPr lang="pt-PT" b="1" dirty="0">
              <a:solidFill>
                <a:schemeClr val="accent6">
                  <a:lumMod val="60000"/>
                  <a:lumOff val="40000"/>
                </a:schemeClr>
              </a:solidFill>
            </a:endParaRPr>
          </a:p>
        </p:txBody>
      </p:sp>
      <p:sp>
        <p:nvSpPr>
          <p:cNvPr id="3" name="Marcador de Posição do Rodapé 2">
            <a:extLst>
              <a:ext uri="{FF2B5EF4-FFF2-40B4-BE49-F238E27FC236}">
                <a16:creationId xmlns:a16="http://schemas.microsoft.com/office/drawing/2014/main" id="{624C7F44-9E16-4DBD-9CCD-D6CB0DCF2F80}"/>
              </a:ext>
            </a:extLst>
          </p:cNvPr>
          <p:cNvSpPr>
            <a:spLocks noGrp="1"/>
          </p:cNvSpPr>
          <p:nvPr>
            <p:ph type="ftr" sz="quarter" idx="11"/>
          </p:nvPr>
        </p:nvSpPr>
        <p:spPr/>
        <p:txBody>
          <a:bodyPr/>
          <a:lstStyle/>
          <a:p>
            <a:r>
              <a:rPr lang="pt-PT"/>
              <a:t>RE4SuSY 2020</a:t>
            </a:r>
          </a:p>
        </p:txBody>
      </p:sp>
      <p:sp>
        <p:nvSpPr>
          <p:cNvPr id="4" name="Marcador de Posição do Número do Diapositivo 3">
            <a:extLst>
              <a:ext uri="{FF2B5EF4-FFF2-40B4-BE49-F238E27FC236}">
                <a16:creationId xmlns:a16="http://schemas.microsoft.com/office/drawing/2014/main" id="{776FA266-6512-4087-8F08-B2420CF33B16}"/>
              </a:ext>
            </a:extLst>
          </p:cNvPr>
          <p:cNvSpPr>
            <a:spLocks noGrp="1"/>
          </p:cNvSpPr>
          <p:nvPr>
            <p:ph type="sldNum" sz="quarter" idx="12"/>
          </p:nvPr>
        </p:nvSpPr>
        <p:spPr/>
        <p:txBody>
          <a:bodyPr/>
          <a:lstStyle/>
          <a:p>
            <a:fld id="{36C2C8C4-90B5-4523-B1E5-1120D41CAE7D}" type="slidenum">
              <a:rPr lang="pt-PT" smtClean="0"/>
              <a:t>16</a:t>
            </a:fld>
            <a:endParaRPr lang="pt-PT"/>
          </a:p>
        </p:txBody>
      </p:sp>
      <p:sp>
        <p:nvSpPr>
          <p:cNvPr id="5" name="CaixaDeTexto 4">
            <a:extLst>
              <a:ext uri="{FF2B5EF4-FFF2-40B4-BE49-F238E27FC236}">
                <a16:creationId xmlns:a16="http://schemas.microsoft.com/office/drawing/2014/main" id="{4E20011E-A086-4DC6-A941-6BBF829A6A70}"/>
              </a:ext>
            </a:extLst>
          </p:cNvPr>
          <p:cNvSpPr txBox="1"/>
          <p:nvPr/>
        </p:nvSpPr>
        <p:spPr>
          <a:xfrm>
            <a:off x="945222" y="1489755"/>
            <a:ext cx="9780998" cy="830997"/>
          </a:xfrm>
          <a:prstGeom prst="rect">
            <a:avLst/>
          </a:prstGeom>
          <a:noFill/>
        </p:spPr>
        <p:txBody>
          <a:bodyPr wrap="square" rtlCol="0">
            <a:spAutoFit/>
          </a:bodyPr>
          <a:lstStyle/>
          <a:p>
            <a:r>
              <a:rPr lang="en-US" sz="2400" dirty="0" err="1">
                <a:effectLst/>
                <a:latin typeface="Times New Roman" panose="02020603050405020304" pitchFamily="18" charset="0"/>
                <a:ea typeface="SimSun" panose="02010600030101010101" pitchFamily="2" charset="-122"/>
              </a:rPr>
              <a:t>i</a:t>
            </a:r>
            <a:r>
              <a:rPr lang="en-US" sz="2400" dirty="0">
                <a:effectLst/>
                <a:latin typeface="Times New Roman" panose="02020603050405020304" pitchFamily="18" charset="0"/>
                <a:ea typeface="SimSun" panose="02010600030101010101" pitchFamily="2" charset="-122"/>
              </a:rPr>
              <a:t>) looking closely to </a:t>
            </a:r>
            <a:r>
              <a:rPr lang="en-US" sz="2400" b="1" dirty="0">
                <a:effectLst/>
                <a:latin typeface="Times New Roman" panose="02020603050405020304" pitchFamily="18" charset="0"/>
                <a:ea typeface="SimSun" panose="02010600030101010101" pitchFamily="2" charset="-122"/>
              </a:rPr>
              <a:t>energy consumption</a:t>
            </a:r>
            <a:r>
              <a:rPr lang="en-US" sz="2400" dirty="0">
                <a:effectLst/>
                <a:latin typeface="Times New Roman" panose="02020603050405020304" pitchFamily="18" charset="0"/>
                <a:ea typeface="SimSun" panose="02010600030101010101" pitchFamily="2" charset="-122"/>
              </a:rPr>
              <a:t> in relation with software performance and structure;</a:t>
            </a:r>
            <a:endParaRPr lang="pt-PT" sz="2400" dirty="0"/>
          </a:p>
        </p:txBody>
      </p:sp>
      <p:sp>
        <p:nvSpPr>
          <p:cNvPr id="7" name="CaixaDeTexto 6">
            <a:extLst>
              <a:ext uri="{FF2B5EF4-FFF2-40B4-BE49-F238E27FC236}">
                <a16:creationId xmlns:a16="http://schemas.microsoft.com/office/drawing/2014/main" id="{F5C86092-5150-4DD6-BFF3-2AD4F51E2FE1}"/>
              </a:ext>
            </a:extLst>
          </p:cNvPr>
          <p:cNvSpPr txBox="1"/>
          <p:nvPr/>
        </p:nvSpPr>
        <p:spPr>
          <a:xfrm>
            <a:off x="933238" y="2536007"/>
            <a:ext cx="9780998" cy="830997"/>
          </a:xfrm>
          <a:prstGeom prst="rect">
            <a:avLst/>
          </a:prstGeom>
          <a:noFill/>
        </p:spPr>
        <p:txBody>
          <a:bodyPr wrap="square" rtlCol="0">
            <a:spAutoFit/>
          </a:bodyPr>
          <a:lstStyle/>
          <a:p>
            <a:r>
              <a:rPr lang="en-US" sz="2400" dirty="0">
                <a:effectLst/>
                <a:latin typeface="Times New Roman" panose="02020603050405020304" pitchFamily="18" charset="0"/>
                <a:ea typeface="SimSun" panose="02010600030101010101" pitchFamily="2" charset="-122"/>
              </a:rPr>
              <a:t>ii) development of a </a:t>
            </a:r>
            <a:r>
              <a:rPr lang="en-US" sz="2400" b="1" dirty="0">
                <a:effectLst/>
                <a:latin typeface="Times New Roman" panose="02020603050405020304" pitchFamily="18" charset="0"/>
                <a:ea typeface="SimSun" panose="02010600030101010101" pitchFamily="2" charset="-122"/>
              </a:rPr>
              <a:t>vulnerability scoring system</a:t>
            </a:r>
            <a:r>
              <a:rPr lang="en-US" sz="2400" dirty="0">
                <a:effectLst/>
                <a:latin typeface="Times New Roman" panose="02020603050405020304" pitchFamily="18" charset="0"/>
                <a:ea typeface="SimSun" panose="02010600030101010101" pitchFamily="2" charset="-122"/>
              </a:rPr>
              <a:t> simple and adapted to software sustainability;</a:t>
            </a:r>
            <a:endParaRPr lang="pt-PT" sz="2400" dirty="0"/>
          </a:p>
        </p:txBody>
      </p:sp>
      <p:sp>
        <p:nvSpPr>
          <p:cNvPr id="9" name="CaixaDeTexto 8">
            <a:extLst>
              <a:ext uri="{FF2B5EF4-FFF2-40B4-BE49-F238E27FC236}">
                <a16:creationId xmlns:a16="http://schemas.microsoft.com/office/drawing/2014/main" id="{C4799955-C6A8-4645-ABC5-0292139C80A6}"/>
              </a:ext>
            </a:extLst>
          </p:cNvPr>
          <p:cNvSpPr txBox="1"/>
          <p:nvPr/>
        </p:nvSpPr>
        <p:spPr>
          <a:xfrm>
            <a:off x="931528" y="3633622"/>
            <a:ext cx="9780998" cy="461665"/>
          </a:xfrm>
          <a:prstGeom prst="rect">
            <a:avLst/>
          </a:prstGeom>
          <a:noFill/>
        </p:spPr>
        <p:txBody>
          <a:bodyPr wrap="square" rtlCol="0">
            <a:spAutoFit/>
          </a:bodyPr>
          <a:lstStyle/>
          <a:p>
            <a:r>
              <a:rPr lang="en-US" sz="2400" dirty="0">
                <a:effectLst/>
                <a:latin typeface="Times New Roman" panose="02020603050405020304" pitchFamily="18" charset="0"/>
                <a:ea typeface="SimSun" panose="02010600030101010101" pitchFamily="2" charset="-122"/>
              </a:rPr>
              <a:t>iii) creation of </a:t>
            </a:r>
            <a:r>
              <a:rPr lang="en-US" sz="2400" b="1" dirty="0">
                <a:effectLst/>
                <a:latin typeface="Times New Roman" panose="02020603050405020304" pitchFamily="18" charset="0"/>
                <a:ea typeface="SimSun" panose="02010600030101010101" pitchFamily="2" charset="-122"/>
              </a:rPr>
              <a:t>tests and recommendations</a:t>
            </a:r>
            <a:r>
              <a:rPr lang="en-US" sz="2400" dirty="0">
                <a:effectLst/>
                <a:latin typeface="Times New Roman" panose="02020603050405020304" pitchFamily="18" charset="0"/>
                <a:ea typeface="SimSun" panose="02010600030101010101" pitchFamily="2" charset="-122"/>
              </a:rPr>
              <a:t> for industry;</a:t>
            </a:r>
            <a:endParaRPr lang="pt-PT" sz="2400" dirty="0"/>
          </a:p>
        </p:txBody>
      </p:sp>
      <p:sp>
        <p:nvSpPr>
          <p:cNvPr id="11" name="CaixaDeTexto 10">
            <a:extLst>
              <a:ext uri="{FF2B5EF4-FFF2-40B4-BE49-F238E27FC236}">
                <a16:creationId xmlns:a16="http://schemas.microsoft.com/office/drawing/2014/main" id="{ECB013AA-786F-448F-8928-1F55F2393F6C}"/>
              </a:ext>
            </a:extLst>
          </p:cNvPr>
          <p:cNvSpPr txBox="1"/>
          <p:nvPr/>
        </p:nvSpPr>
        <p:spPr>
          <a:xfrm>
            <a:off x="929818" y="4340826"/>
            <a:ext cx="10515600" cy="830997"/>
          </a:xfrm>
          <a:prstGeom prst="rect">
            <a:avLst/>
          </a:prstGeom>
          <a:noFill/>
        </p:spPr>
        <p:txBody>
          <a:bodyPr wrap="square" rtlCol="0">
            <a:spAutoFit/>
          </a:bodyPr>
          <a:lstStyle/>
          <a:p>
            <a:r>
              <a:rPr lang="en-US" sz="2400" dirty="0">
                <a:effectLst/>
                <a:latin typeface="Times New Roman" panose="02020603050405020304" pitchFamily="18" charset="0"/>
                <a:ea typeface="SimSun" panose="02010600030101010101" pitchFamily="2" charset="-122"/>
              </a:rPr>
              <a:t>iv) creation of a </a:t>
            </a:r>
            <a:r>
              <a:rPr lang="en-US" sz="2400" b="1" dirty="0">
                <a:effectLst/>
                <a:latin typeface="Times New Roman" panose="02020603050405020304" pitchFamily="18" charset="0"/>
                <a:ea typeface="SimSun" panose="02010600030101010101" pitchFamily="2" charset="-122"/>
              </a:rPr>
              <a:t>reusable library of concerns</a:t>
            </a:r>
            <a:r>
              <a:rPr lang="en-US" sz="2400" dirty="0">
                <a:effectLst/>
                <a:latin typeface="Times New Roman" panose="02020603050405020304" pitchFamily="18" charset="0"/>
                <a:ea typeface="SimSun" panose="02010600030101010101" pitchFamily="2" charset="-122"/>
              </a:rPr>
              <a:t> for software sustainability, using </a:t>
            </a:r>
            <a:r>
              <a:rPr lang="en-US" sz="2400" b="1" dirty="0" err="1">
                <a:effectLst/>
                <a:latin typeface="Times New Roman" panose="02020603050405020304" pitchFamily="18" charset="0"/>
                <a:ea typeface="SimSun" panose="02010600030101010101" pitchFamily="2" charset="-122"/>
              </a:rPr>
              <a:t>ITLingo</a:t>
            </a:r>
            <a:r>
              <a:rPr lang="en-US" sz="2400" b="1" dirty="0">
                <a:effectLst/>
                <a:latin typeface="Times New Roman" panose="02020603050405020304" pitchFamily="18" charset="0"/>
                <a:ea typeface="SimSun" panose="02010600030101010101" pitchFamily="2" charset="-122"/>
              </a:rPr>
              <a:t>-Studio and RSL</a:t>
            </a:r>
            <a:r>
              <a:rPr lang="en-US" sz="2400" dirty="0">
                <a:effectLst/>
                <a:latin typeface="Times New Roman" panose="02020603050405020304" pitchFamily="18" charset="0"/>
                <a:ea typeface="SimSun" panose="02010600030101010101" pitchFamily="2" charset="-122"/>
              </a:rPr>
              <a:t> technologies, to specify rigorous requirements;</a:t>
            </a:r>
            <a:endParaRPr lang="pt-PT" sz="2400" dirty="0"/>
          </a:p>
        </p:txBody>
      </p:sp>
    </p:spTree>
    <p:extLst>
      <p:ext uri="{BB962C8B-B14F-4D97-AF65-F5344CB8AC3E}">
        <p14:creationId xmlns:p14="http://schemas.microsoft.com/office/powerpoint/2010/main" val="3951671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2" presetClass="entr" presetSubtype="4" fill="hold" grpId="0" nodeType="afterEffect">
                                  <p:stCondLst>
                                    <p:cond delay="0"/>
                                  </p:stCondLst>
                                  <p:childTnLst>
                                    <p:set>
                                      <p:cBhvr>
                                        <p:cTn id="9" dur="1" fill="hold">
                                          <p:stCondLst>
                                            <p:cond delay="0"/>
                                          </p:stCondLst>
                                        </p:cTn>
                                        <p:tgtEl>
                                          <p:spTgt spid="7"/>
                                        </p:tgtEl>
                                        <p:attrNameLst>
                                          <p:attrName>style.visibility</p:attrName>
                                        </p:attrNameLst>
                                      </p:cBhvr>
                                      <p:to>
                                        <p:strVal val="visible"/>
                                      </p:to>
                                    </p:set>
                                    <p:anim calcmode="lin" valueType="num">
                                      <p:cBhvr additive="base">
                                        <p:cTn id="10" dur="500" fill="hold"/>
                                        <p:tgtEl>
                                          <p:spTgt spid="7"/>
                                        </p:tgtEl>
                                        <p:attrNameLst>
                                          <p:attrName>ppt_x</p:attrName>
                                        </p:attrNameLst>
                                      </p:cBhvr>
                                      <p:tavLst>
                                        <p:tav tm="0">
                                          <p:val>
                                            <p:strVal val="#ppt_x"/>
                                          </p:val>
                                        </p:tav>
                                        <p:tav tm="100000">
                                          <p:val>
                                            <p:strVal val="#ppt_x"/>
                                          </p:val>
                                        </p:tav>
                                      </p:tavLst>
                                    </p:anim>
                                    <p:anim calcmode="lin" valueType="num">
                                      <p:cBhvr additive="base">
                                        <p:cTn id="11" dur="500" fill="hold"/>
                                        <p:tgtEl>
                                          <p:spTgt spid="7"/>
                                        </p:tgtEl>
                                        <p:attrNameLst>
                                          <p:attrName>ppt_y</p:attrName>
                                        </p:attrNameLst>
                                      </p:cBhvr>
                                      <p:tavLst>
                                        <p:tav tm="0">
                                          <p:val>
                                            <p:strVal val="1+#ppt_h/2"/>
                                          </p:val>
                                        </p:tav>
                                        <p:tav tm="100000">
                                          <p:val>
                                            <p:strVal val="#ppt_y"/>
                                          </p:val>
                                        </p:tav>
                                      </p:tavLst>
                                    </p:anim>
                                  </p:childTnLst>
                                </p:cTn>
                              </p:par>
                            </p:childTnLst>
                          </p:cTn>
                        </p:par>
                        <p:par>
                          <p:cTn id="12" fill="hold">
                            <p:stCondLst>
                              <p:cond delay="500"/>
                            </p:stCondLst>
                            <p:childTnLst>
                              <p:par>
                                <p:cTn id="13" presetID="2" presetClass="entr" presetSubtype="4"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childTnLst>
                          </p:cTn>
                        </p:par>
                        <p:par>
                          <p:cTn id="17" fill="hold">
                            <p:stCondLst>
                              <p:cond delay="1000"/>
                            </p:stCondLst>
                            <p:childTnLst>
                              <p:par>
                                <p:cTn id="18" presetID="2" presetClass="entr" presetSubtype="4"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500" fill="hold"/>
                                        <p:tgtEl>
                                          <p:spTgt spid="11"/>
                                        </p:tgtEl>
                                        <p:attrNameLst>
                                          <p:attrName>ppt_x</p:attrName>
                                        </p:attrNameLst>
                                      </p:cBhvr>
                                      <p:tavLst>
                                        <p:tav tm="0">
                                          <p:val>
                                            <p:strVal val="#ppt_x"/>
                                          </p:val>
                                        </p:tav>
                                        <p:tav tm="100000">
                                          <p:val>
                                            <p:strVal val="#ppt_x"/>
                                          </p:val>
                                        </p:tav>
                                      </p:tavLst>
                                    </p:anim>
                                    <p:anim calcmode="lin" valueType="num">
                                      <p:cBhvr additive="base">
                                        <p:cTn id="21"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m 6">
            <a:extLst>
              <a:ext uri="{FF2B5EF4-FFF2-40B4-BE49-F238E27FC236}">
                <a16:creationId xmlns:a16="http://schemas.microsoft.com/office/drawing/2014/main" id="{5B0DBA4C-B61B-4DD8-8B23-4820F7D30FD3}"/>
              </a:ext>
            </a:extLst>
          </p:cNvPr>
          <p:cNvPicPr>
            <a:picLocks noChangeAspect="1"/>
          </p:cNvPicPr>
          <p:nvPr/>
        </p:nvPicPr>
        <p:blipFill>
          <a:blip r:embed="rId2"/>
          <a:stretch>
            <a:fillRect/>
          </a:stretch>
        </p:blipFill>
        <p:spPr>
          <a:xfrm>
            <a:off x="8401565" y="3597172"/>
            <a:ext cx="3161270" cy="2895703"/>
          </a:xfrm>
          <a:prstGeom prst="rect">
            <a:avLst/>
          </a:prstGeom>
        </p:spPr>
      </p:pic>
      <p:sp>
        <p:nvSpPr>
          <p:cNvPr id="2" name="Título 1">
            <a:extLst>
              <a:ext uri="{FF2B5EF4-FFF2-40B4-BE49-F238E27FC236}">
                <a16:creationId xmlns:a16="http://schemas.microsoft.com/office/drawing/2014/main" id="{36038AE6-AA62-4B76-A885-E85AAFB9A2CB}"/>
              </a:ext>
            </a:extLst>
          </p:cNvPr>
          <p:cNvSpPr>
            <a:spLocks noGrp="1"/>
          </p:cNvSpPr>
          <p:nvPr>
            <p:ph type="title"/>
          </p:nvPr>
        </p:nvSpPr>
        <p:spPr/>
        <p:txBody>
          <a:bodyPr/>
          <a:lstStyle/>
          <a:p>
            <a:r>
              <a:rPr lang="pt-PT" b="1" dirty="0" err="1">
                <a:solidFill>
                  <a:schemeClr val="accent6">
                    <a:lumMod val="75000"/>
                  </a:schemeClr>
                </a:solidFill>
              </a:rPr>
              <a:t>Summing</a:t>
            </a:r>
            <a:r>
              <a:rPr lang="pt-PT" b="1" dirty="0">
                <a:solidFill>
                  <a:schemeClr val="accent6">
                    <a:lumMod val="75000"/>
                  </a:schemeClr>
                </a:solidFill>
              </a:rPr>
              <a:t> </a:t>
            </a:r>
            <a:r>
              <a:rPr lang="pt-PT" b="1" dirty="0" err="1">
                <a:solidFill>
                  <a:schemeClr val="accent6">
                    <a:lumMod val="75000"/>
                  </a:schemeClr>
                </a:solidFill>
              </a:rPr>
              <a:t>up</a:t>
            </a:r>
            <a:r>
              <a:rPr lang="pt-PT" b="1" dirty="0">
                <a:solidFill>
                  <a:schemeClr val="accent6">
                    <a:lumMod val="75000"/>
                  </a:schemeClr>
                </a:solidFill>
              </a:rPr>
              <a:t>…</a:t>
            </a:r>
          </a:p>
        </p:txBody>
      </p:sp>
      <p:sp>
        <p:nvSpPr>
          <p:cNvPr id="3" name="Marcador de Posição do Rodapé 2">
            <a:extLst>
              <a:ext uri="{FF2B5EF4-FFF2-40B4-BE49-F238E27FC236}">
                <a16:creationId xmlns:a16="http://schemas.microsoft.com/office/drawing/2014/main" id="{624C7F44-9E16-4DBD-9CCD-D6CB0DCF2F80}"/>
              </a:ext>
            </a:extLst>
          </p:cNvPr>
          <p:cNvSpPr>
            <a:spLocks noGrp="1"/>
          </p:cNvSpPr>
          <p:nvPr>
            <p:ph type="ftr" sz="quarter" idx="11"/>
          </p:nvPr>
        </p:nvSpPr>
        <p:spPr/>
        <p:txBody>
          <a:bodyPr/>
          <a:lstStyle/>
          <a:p>
            <a:r>
              <a:rPr lang="pt-PT"/>
              <a:t>RE4SuSY 2020</a:t>
            </a:r>
          </a:p>
        </p:txBody>
      </p:sp>
      <p:sp>
        <p:nvSpPr>
          <p:cNvPr id="4" name="Marcador de Posição do Número do Diapositivo 3">
            <a:extLst>
              <a:ext uri="{FF2B5EF4-FFF2-40B4-BE49-F238E27FC236}">
                <a16:creationId xmlns:a16="http://schemas.microsoft.com/office/drawing/2014/main" id="{776FA266-6512-4087-8F08-B2420CF33B16}"/>
              </a:ext>
            </a:extLst>
          </p:cNvPr>
          <p:cNvSpPr>
            <a:spLocks noGrp="1"/>
          </p:cNvSpPr>
          <p:nvPr>
            <p:ph type="sldNum" sz="quarter" idx="12"/>
          </p:nvPr>
        </p:nvSpPr>
        <p:spPr/>
        <p:txBody>
          <a:bodyPr/>
          <a:lstStyle/>
          <a:p>
            <a:fld id="{36C2C8C4-90B5-4523-B1E5-1120D41CAE7D}" type="slidenum">
              <a:rPr lang="pt-PT" smtClean="0"/>
              <a:t>17</a:t>
            </a:fld>
            <a:endParaRPr lang="pt-PT"/>
          </a:p>
        </p:txBody>
      </p:sp>
      <p:sp>
        <p:nvSpPr>
          <p:cNvPr id="5" name="CaixaDeTexto 4">
            <a:extLst>
              <a:ext uri="{FF2B5EF4-FFF2-40B4-BE49-F238E27FC236}">
                <a16:creationId xmlns:a16="http://schemas.microsoft.com/office/drawing/2014/main" id="{306F6554-1BF9-40B6-9BC0-C996C174850D}"/>
              </a:ext>
            </a:extLst>
          </p:cNvPr>
          <p:cNvSpPr txBox="1"/>
          <p:nvPr/>
        </p:nvSpPr>
        <p:spPr>
          <a:xfrm>
            <a:off x="838200" y="2127985"/>
            <a:ext cx="11353800" cy="1446550"/>
          </a:xfrm>
          <a:prstGeom prst="rect">
            <a:avLst/>
          </a:prstGeom>
          <a:noFill/>
        </p:spPr>
        <p:txBody>
          <a:bodyPr wrap="square" rtlCol="0">
            <a:spAutoFit/>
          </a:bodyPr>
          <a:lstStyle/>
          <a:p>
            <a:r>
              <a:rPr lang="en-US" sz="4400" dirty="0">
                <a:solidFill>
                  <a:srgbClr val="000000"/>
                </a:solidFill>
                <a:effectLst/>
                <a:latin typeface="Times New Roman" panose="02020603050405020304" pitchFamily="18" charset="0"/>
                <a:ea typeface="SimSun" panose="02010600030101010101" pitchFamily="2" charset="-122"/>
              </a:rPr>
              <a:t>We would like to test software to identify improvements from a sustainability point of view.</a:t>
            </a:r>
            <a:endParaRPr lang="pt-PT" sz="4400" dirty="0"/>
          </a:p>
        </p:txBody>
      </p:sp>
    </p:spTree>
    <p:extLst>
      <p:ext uri="{BB962C8B-B14F-4D97-AF65-F5344CB8AC3E}">
        <p14:creationId xmlns:p14="http://schemas.microsoft.com/office/powerpoint/2010/main" val="959560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038AE6-AA62-4B76-A885-E85AAFB9A2CB}"/>
              </a:ext>
            </a:extLst>
          </p:cNvPr>
          <p:cNvSpPr>
            <a:spLocks noGrp="1"/>
          </p:cNvSpPr>
          <p:nvPr>
            <p:ph type="title"/>
          </p:nvPr>
        </p:nvSpPr>
        <p:spPr>
          <a:xfrm>
            <a:off x="838200" y="26083"/>
            <a:ext cx="10515600" cy="1325563"/>
          </a:xfrm>
        </p:spPr>
        <p:txBody>
          <a:bodyPr/>
          <a:lstStyle/>
          <a:p>
            <a:r>
              <a:rPr lang="pt-PT" dirty="0"/>
              <a:t>Some </a:t>
            </a:r>
            <a:r>
              <a:rPr lang="pt-PT" dirty="0" err="1"/>
              <a:t>Bibliography</a:t>
            </a:r>
            <a:endParaRPr lang="pt-PT" dirty="0"/>
          </a:p>
        </p:txBody>
      </p:sp>
      <p:sp>
        <p:nvSpPr>
          <p:cNvPr id="3" name="Marcador de Posição do Rodapé 2">
            <a:extLst>
              <a:ext uri="{FF2B5EF4-FFF2-40B4-BE49-F238E27FC236}">
                <a16:creationId xmlns:a16="http://schemas.microsoft.com/office/drawing/2014/main" id="{624C7F44-9E16-4DBD-9CCD-D6CB0DCF2F80}"/>
              </a:ext>
            </a:extLst>
          </p:cNvPr>
          <p:cNvSpPr>
            <a:spLocks noGrp="1"/>
          </p:cNvSpPr>
          <p:nvPr>
            <p:ph type="ftr" sz="quarter" idx="11"/>
          </p:nvPr>
        </p:nvSpPr>
        <p:spPr/>
        <p:txBody>
          <a:bodyPr/>
          <a:lstStyle/>
          <a:p>
            <a:r>
              <a:rPr lang="pt-PT"/>
              <a:t>RE4SuSY 2020</a:t>
            </a:r>
          </a:p>
        </p:txBody>
      </p:sp>
      <p:sp>
        <p:nvSpPr>
          <p:cNvPr id="4" name="Marcador de Posição do Número do Diapositivo 3">
            <a:extLst>
              <a:ext uri="{FF2B5EF4-FFF2-40B4-BE49-F238E27FC236}">
                <a16:creationId xmlns:a16="http://schemas.microsoft.com/office/drawing/2014/main" id="{776FA266-6512-4087-8F08-B2420CF33B16}"/>
              </a:ext>
            </a:extLst>
          </p:cNvPr>
          <p:cNvSpPr>
            <a:spLocks noGrp="1"/>
          </p:cNvSpPr>
          <p:nvPr>
            <p:ph type="sldNum" sz="quarter" idx="12"/>
          </p:nvPr>
        </p:nvSpPr>
        <p:spPr/>
        <p:txBody>
          <a:bodyPr/>
          <a:lstStyle/>
          <a:p>
            <a:fld id="{36C2C8C4-90B5-4523-B1E5-1120D41CAE7D}" type="slidenum">
              <a:rPr lang="pt-PT" smtClean="0"/>
              <a:t>18</a:t>
            </a:fld>
            <a:endParaRPr lang="pt-PT"/>
          </a:p>
        </p:txBody>
      </p:sp>
      <p:sp>
        <p:nvSpPr>
          <p:cNvPr id="5" name="CaixaDeTexto 4">
            <a:extLst>
              <a:ext uri="{FF2B5EF4-FFF2-40B4-BE49-F238E27FC236}">
                <a16:creationId xmlns:a16="http://schemas.microsoft.com/office/drawing/2014/main" id="{3C75F646-0B6C-4938-9FFE-2034CC6B7795}"/>
              </a:ext>
            </a:extLst>
          </p:cNvPr>
          <p:cNvSpPr txBox="1"/>
          <p:nvPr/>
        </p:nvSpPr>
        <p:spPr>
          <a:xfrm>
            <a:off x="883578" y="930400"/>
            <a:ext cx="10202239" cy="5478423"/>
          </a:xfrm>
          <a:prstGeom prst="rect">
            <a:avLst/>
          </a:prstGeom>
          <a:noFill/>
        </p:spPr>
        <p:txBody>
          <a:bodyPr wrap="square" rtlCol="0">
            <a:spAutoFit/>
          </a:bodyPr>
          <a:lstStyle/>
          <a:p>
            <a:r>
              <a:rPr lang="en-US" sz="1600" b="1" dirty="0">
                <a:effectLst/>
                <a:latin typeface="Times New Roman" panose="02020603050405020304" pitchFamily="18" charset="0"/>
                <a:ea typeface="MS Mincho" panose="02020609040205080304" pitchFamily="49" charset="-128"/>
                <a:cs typeface="Times New Roman" panose="02020603050405020304" pitchFamily="18" charset="0"/>
              </a:rPr>
              <a:t>[2]</a:t>
            </a:r>
            <a:r>
              <a:rPr lang="en-US" sz="1600" dirty="0">
                <a:effectLst/>
                <a:latin typeface="Times New Roman" panose="02020603050405020304" pitchFamily="18" charset="0"/>
                <a:ea typeface="MS Mincho" panose="02020609040205080304" pitchFamily="49" charset="-128"/>
                <a:cs typeface="Times New Roman" panose="02020603050405020304" pitchFamily="18" charset="0"/>
              </a:rPr>
              <a:t> A. Imran and T. </a:t>
            </a:r>
            <a:r>
              <a:rPr lang="en-US" sz="1600" dirty="0" err="1">
                <a:effectLst/>
                <a:latin typeface="Times New Roman" panose="02020603050405020304" pitchFamily="18" charset="0"/>
                <a:ea typeface="MS Mincho" panose="02020609040205080304" pitchFamily="49" charset="-128"/>
                <a:cs typeface="Times New Roman" panose="02020603050405020304" pitchFamily="18" charset="0"/>
              </a:rPr>
              <a:t>Kosar</a:t>
            </a:r>
            <a:r>
              <a:rPr lang="en-US" sz="1600" dirty="0">
                <a:effectLst/>
                <a:latin typeface="Times New Roman" panose="02020603050405020304" pitchFamily="18" charset="0"/>
                <a:ea typeface="MS Mincho" panose="02020609040205080304" pitchFamily="49" charset="-128"/>
                <a:cs typeface="Times New Roman" panose="02020603050405020304" pitchFamily="18" charset="0"/>
              </a:rPr>
              <a:t>, “Software Sustainability: A Systematic Literature Review and Comprehensive Analysis”, Journal of Information and Software Technology, 2019</a:t>
            </a:r>
            <a:endParaRPr lang="pt-PT" sz="1600" dirty="0">
              <a:effectLst/>
              <a:latin typeface="Times New Roman" panose="02020603050405020304" pitchFamily="18" charset="0"/>
              <a:ea typeface="MS Mincho" panose="02020609040205080304" pitchFamily="49" charset="-128"/>
              <a:cs typeface="Times New Roman" panose="02020603050405020304" pitchFamily="18" charset="0"/>
            </a:endParaRPr>
          </a:p>
          <a:p>
            <a:endParaRPr lang="pt-PT" sz="1600" dirty="0">
              <a:latin typeface="Times New Roman" panose="02020603050405020304" pitchFamily="18" charset="0"/>
              <a:cs typeface="Times New Roman" panose="02020603050405020304" pitchFamily="18" charset="0"/>
            </a:endParaRPr>
          </a:p>
          <a:p>
            <a:r>
              <a:rPr lang="pt-PT" sz="1600" b="1" dirty="0">
                <a:latin typeface="Times New Roman" panose="02020603050405020304" pitchFamily="18" charset="0"/>
                <a:cs typeface="Times New Roman" panose="02020603050405020304" pitchFamily="18" charset="0"/>
              </a:rPr>
              <a:t>[3]</a:t>
            </a:r>
            <a:r>
              <a:rPr lang="pt-PT" sz="1600" dirty="0">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ea typeface="MS Mincho" panose="02020609040205080304" pitchFamily="49" charset="-128"/>
                <a:cs typeface="Times New Roman" panose="02020603050405020304" pitchFamily="18" charset="0"/>
              </a:rPr>
              <a:t>A. Malhotra, N. Melville and R. Watson, “Spurring Impactful Research on Information Systems and Environmental Sustainability”, MIS Quarterly, vol. 37, pp. 1265-1274, 2013.</a:t>
            </a:r>
            <a:endParaRPr lang="pt-PT" sz="1600" dirty="0">
              <a:effectLst/>
              <a:latin typeface="Times New Roman" panose="02020603050405020304" pitchFamily="18" charset="0"/>
              <a:ea typeface="MS Mincho" panose="02020609040205080304" pitchFamily="49" charset="-128"/>
              <a:cs typeface="Times New Roman" panose="02020603050405020304" pitchFamily="18" charset="0"/>
            </a:endParaRPr>
          </a:p>
          <a:p>
            <a:endParaRPr lang="pt-PT" sz="1600" dirty="0">
              <a:latin typeface="Times New Roman" panose="02020603050405020304" pitchFamily="18" charset="0"/>
              <a:cs typeface="Times New Roman" panose="02020603050405020304" pitchFamily="18" charset="0"/>
            </a:endParaRPr>
          </a:p>
          <a:p>
            <a:r>
              <a:rPr lang="pt-PT" sz="1600" b="1" dirty="0">
                <a:latin typeface="Times New Roman" panose="02020603050405020304" pitchFamily="18" charset="0"/>
                <a:cs typeface="Times New Roman" panose="02020603050405020304" pitchFamily="18" charset="0"/>
              </a:rPr>
              <a:t>[11]</a:t>
            </a:r>
            <a:r>
              <a:rPr lang="pt-PT"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B. </a:t>
            </a:r>
            <a:r>
              <a:rPr lang="en-US" sz="1600" dirty="0" err="1">
                <a:latin typeface="Times New Roman" panose="02020603050405020304" pitchFamily="18" charset="0"/>
                <a:cs typeface="Times New Roman" panose="02020603050405020304" pitchFamily="18" charset="0"/>
              </a:rPr>
              <a:t>Penzenstadler</a:t>
            </a:r>
            <a:r>
              <a:rPr lang="en-US" sz="1600" dirty="0">
                <a:latin typeface="Times New Roman" panose="02020603050405020304" pitchFamily="18" charset="0"/>
                <a:cs typeface="Times New Roman" panose="02020603050405020304" pitchFamily="18" charset="0"/>
              </a:rPr>
              <a:t>, “Infusing Green: Requirements Engineering for Green In and Through Software Systems”, Third International Workshop on Requirements Engineering for Sustainable Systems, pp. 44-53, 2014. </a:t>
            </a:r>
            <a:endParaRPr lang="pt-PT" sz="1600" dirty="0">
              <a:latin typeface="Times New Roman" panose="02020603050405020304" pitchFamily="18" charset="0"/>
              <a:cs typeface="Times New Roman" panose="02020603050405020304" pitchFamily="18" charset="0"/>
            </a:endParaRPr>
          </a:p>
          <a:p>
            <a:endParaRPr lang="pt-PT" sz="1600" dirty="0">
              <a:latin typeface="Times New Roman" panose="02020603050405020304" pitchFamily="18" charset="0"/>
              <a:cs typeface="Times New Roman" panose="02020603050405020304" pitchFamily="18" charset="0"/>
            </a:endParaRPr>
          </a:p>
          <a:p>
            <a:r>
              <a:rPr lang="en-US" sz="1600" b="1" dirty="0">
                <a:effectLst/>
                <a:latin typeface="Times New Roman" panose="02020603050405020304" pitchFamily="18" charset="0"/>
                <a:ea typeface="MS Mincho" panose="02020609040205080304" pitchFamily="49" charset="-128"/>
                <a:cs typeface="Times New Roman" panose="02020603050405020304" pitchFamily="18" charset="0"/>
              </a:rPr>
              <a:t>[36]</a:t>
            </a:r>
            <a:r>
              <a:rPr lang="en-US" sz="1600" dirty="0">
                <a:effectLst/>
                <a:latin typeface="Times New Roman" panose="02020603050405020304" pitchFamily="18" charset="0"/>
                <a:ea typeface="MS Mincho" panose="02020609040205080304" pitchFamily="49" charset="-128"/>
                <a:cs typeface="Times New Roman" panose="02020603050405020304" pitchFamily="18" charset="0"/>
              </a:rPr>
              <a:t> I. </a:t>
            </a:r>
            <a:r>
              <a:rPr lang="en-US" sz="1600" dirty="0" err="1">
                <a:effectLst/>
                <a:latin typeface="Times New Roman" panose="02020603050405020304" pitchFamily="18" charset="0"/>
                <a:ea typeface="MS Mincho" panose="02020609040205080304" pitchFamily="49" charset="-128"/>
                <a:cs typeface="Times New Roman" panose="02020603050405020304" pitchFamily="18" charset="0"/>
              </a:rPr>
              <a:t>Wallimann</a:t>
            </a:r>
            <a:r>
              <a:rPr lang="en-US" sz="1600" dirty="0">
                <a:effectLst/>
                <a:latin typeface="Times New Roman" panose="02020603050405020304" pitchFamily="18" charset="0"/>
                <a:ea typeface="MS Mincho" panose="02020609040205080304" pitchFamily="49" charset="-128"/>
                <a:cs typeface="Times New Roman" panose="02020603050405020304" pitchFamily="18" charset="0"/>
              </a:rPr>
              <a:t>-Helmer, L. Meyer, K. </a:t>
            </a:r>
            <a:r>
              <a:rPr lang="en-US" sz="1600" dirty="0" err="1">
                <a:effectLst/>
                <a:latin typeface="Times New Roman" panose="02020603050405020304" pitchFamily="18" charset="0"/>
                <a:ea typeface="MS Mincho" panose="02020609040205080304" pitchFamily="49" charset="-128"/>
                <a:cs typeface="Times New Roman" panose="02020603050405020304" pitchFamily="18" charset="0"/>
              </a:rPr>
              <a:t>Mintz</a:t>
            </a:r>
            <a:r>
              <a:rPr lang="en-US" sz="1600" dirty="0">
                <a:effectLst/>
                <a:latin typeface="Times New Roman" panose="02020603050405020304" pitchFamily="18" charset="0"/>
                <a:ea typeface="MS Mincho" panose="02020609040205080304" pitchFamily="49" charset="-128"/>
                <a:cs typeface="Times New Roman" panose="02020603050405020304" pitchFamily="18" charset="0"/>
              </a:rPr>
              <a:t>-Woo, T. </a:t>
            </a:r>
            <a:r>
              <a:rPr lang="en-US" sz="1600" dirty="0" err="1">
                <a:effectLst/>
                <a:latin typeface="Times New Roman" panose="02020603050405020304" pitchFamily="18" charset="0"/>
                <a:ea typeface="MS Mincho" panose="02020609040205080304" pitchFamily="49" charset="-128"/>
                <a:cs typeface="Times New Roman" panose="02020603050405020304" pitchFamily="18" charset="0"/>
              </a:rPr>
              <a:t>Schinko</a:t>
            </a:r>
            <a:r>
              <a:rPr lang="en-US" sz="1600" dirty="0">
                <a:effectLst/>
                <a:latin typeface="Times New Roman" panose="02020603050405020304" pitchFamily="18" charset="0"/>
                <a:ea typeface="MS Mincho" panose="02020609040205080304" pitchFamily="49" charset="-128"/>
                <a:cs typeface="Times New Roman" panose="02020603050405020304" pitchFamily="18" charset="0"/>
              </a:rPr>
              <a:t> and O. </a:t>
            </a:r>
            <a:r>
              <a:rPr lang="en-US" sz="1600" dirty="0" err="1">
                <a:effectLst/>
                <a:latin typeface="Times New Roman" panose="02020603050405020304" pitchFamily="18" charset="0"/>
                <a:ea typeface="MS Mincho" panose="02020609040205080304" pitchFamily="49" charset="-128"/>
                <a:cs typeface="Times New Roman" panose="02020603050405020304" pitchFamily="18" charset="0"/>
              </a:rPr>
              <a:t>Serdeczny</a:t>
            </a:r>
            <a:r>
              <a:rPr lang="en-US" sz="1600" dirty="0">
                <a:effectLst/>
                <a:latin typeface="Times New Roman" panose="02020603050405020304" pitchFamily="18" charset="0"/>
                <a:ea typeface="MS Mincho" panose="02020609040205080304" pitchFamily="49" charset="-128"/>
                <a:cs typeface="Times New Roman" panose="02020603050405020304" pitchFamily="18" charset="0"/>
              </a:rPr>
              <a:t> in R. </a:t>
            </a:r>
            <a:r>
              <a:rPr lang="en-US" sz="1600" dirty="0" err="1">
                <a:effectLst/>
                <a:latin typeface="Times New Roman" panose="02020603050405020304" pitchFamily="18" charset="0"/>
                <a:ea typeface="MS Mincho" panose="02020609040205080304" pitchFamily="49" charset="-128"/>
                <a:cs typeface="Times New Roman" panose="02020603050405020304" pitchFamily="18" charset="0"/>
              </a:rPr>
              <a:t>Mechler</a:t>
            </a:r>
            <a:r>
              <a:rPr lang="en-US" sz="1600" dirty="0">
                <a:effectLst/>
                <a:latin typeface="Times New Roman" panose="02020603050405020304" pitchFamily="18" charset="0"/>
                <a:ea typeface="MS Mincho" panose="02020609040205080304" pitchFamily="49" charset="-128"/>
                <a:cs typeface="Times New Roman" panose="02020603050405020304" pitchFamily="18" charset="0"/>
              </a:rPr>
              <a:t>, L. Bouwer, T. </a:t>
            </a:r>
            <a:r>
              <a:rPr lang="en-US" sz="1600" dirty="0" err="1">
                <a:effectLst/>
                <a:latin typeface="Times New Roman" panose="02020603050405020304" pitchFamily="18" charset="0"/>
                <a:ea typeface="MS Mincho" panose="02020609040205080304" pitchFamily="49" charset="-128"/>
                <a:cs typeface="Times New Roman" panose="02020603050405020304" pitchFamily="18" charset="0"/>
              </a:rPr>
              <a:t>Schinko</a:t>
            </a:r>
            <a:r>
              <a:rPr lang="en-US" sz="1600" dirty="0">
                <a:effectLst/>
                <a:latin typeface="Times New Roman" panose="02020603050405020304" pitchFamily="18" charset="0"/>
                <a:ea typeface="MS Mincho" panose="02020609040205080304" pitchFamily="49" charset="-128"/>
                <a:cs typeface="Times New Roman" panose="02020603050405020304" pitchFamily="18" charset="0"/>
              </a:rPr>
              <a:t>, S. </a:t>
            </a:r>
            <a:r>
              <a:rPr lang="en-US" sz="1600" dirty="0" err="1">
                <a:effectLst/>
                <a:latin typeface="Times New Roman" panose="02020603050405020304" pitchFamily="18" charset="0"/>
                <a:ea typeface="MS Mincho" panose="02020609040205080304" pitchFamily="49" charset="-128"/>
                <a:cs typeface="Times New Roman" panose="02020603050405020304" pitchFamily="18" charset="0"/>
              </a:rPr>
              <a:t>Surminski</a:t>
            </a:r>
            <a:r>
              <a:rPr lang="en-US" sz="1600" dirty="0">
                <a:effectLst/>
                <a:latin typeface="Times New Roman" panose="02020603050405020304" pitchFamily="18" charset="0"/>
                <a:ea typeface="MS Mincho" panose="02020609040205080304" pitchFamily="49" charset="-128"/>
                <a:cs typeface="Times New Roman" panose="02020603050405020304" pitchFamily="18" charset="0"/>
              </a:rPr>
              <a:t> and J. Bayer, “Loss and Damage from Climate Change Chapter 2: The Ethical Challenges in the Context of Climate Loss and Damage”, Springer Open, 2019, pp. XXII + 557.</a:t>
            </a:r>
            <a:endParaRPr lang="pt-PT" sz="1600" dirty="0">
              <a:effectLst/>
              <a:latin typeface="Times New Roman" panose="02020603050405020304" pitchFamily="18" charset="0"/>
              <a:ea typeface="MS Mincho" panose="02020609040205080304" pitchFamily="49" charset="-128"/>
              <a:cs typeface="Times New Roman" panose="02020603050405020304" pitchFamily="18" charset="0"/>
            </a:endParaRPr>
          </a:p>
          <a:p>
            <a:endParaRPr lang="pt-PT" sz="1600" dirty="0">
              <a:latin typeface="Times New Roman" panose="02020603050405020304" pitchFamily="18" charset="0"/>
              <a:cs typeface="Times New Roman" panose="02020603050405020304" pitchFamily="18" charset="0"/>
            </a:endParaRPr>
          </a:p>
          <a:p>
            <a:r>
              <a:rPr lang="pt-PT" sz="1600" b="1" dirty="0">
                <a:latin typeface="Times New Roman" panose="02020603050405020304" pitchFamily="18" charset="0"/>
                <a:cs typeface="Times New Roman" panose="02020603050405020304" pitchFamily="18" charset="0"/>
              </a:rPr>
              <a:t>[38]</a:t>
            </a:r>
            <a:r>
              <a:rPr lang="pt-PT" sz="1600" dirty="0">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ea typeface="MS Mincho" panose="02020609040205080304" pitchFamily="49" charset="-128"/>
                <a:cs typeface="Times New Roman" panose="02020603050405020304" pitchFamily="18" charset="0"/>
              </a:rPr>
              <a:t>INESC-ID (2017), “</a:t>
            </a:r>
            <a:r>
              <a:rPr lang="en-US" sz="1600" dirty="0" err="1">
                <a:effectLst/>
                <a:latin typeface="Times New Roman" panose="02020603050405020304" pitchFamily="18" charset="0"/>
                <a:ea typeface="MS Mincho" panose="02020609040205080304" pitchFamily="49" charset="-128"/>
                <a:cs typeface="Times New Roman" panose="02020603050405020304" pitchFamily="18" charset="0"/>
              </a:rPr>
              <a:t>ITLingo</a:t>
            </a:r>
            <a:r>
              <a:rPr lang="en-US" sz="1600" dirty="0">
                <a:effectLst/>
                <a:latin typeface="Times New Roman" panose="02020603050405020304" pitchFamily="18" charset="0"/>
                <a:ea typeface="MS Mincho" panose="02020609040205080304" pitchFamily="49" charset="-128"/>
                <a:cs typeface="Times New Roman" panose="02020603050405020304" pitchFamily="18" charset="0"/>
              </a:rPr>
              <a:t>”, itbox.inesc-id.pt/</a:t>
            </a:r>
            <a:r>
              <a:rPr lang="en-US" sz="1600" dirty="0" err="1">
                <a:effectLst/>
                <a:latin typeface="Times New Roman" panose="02020603050405020304" pitchFamily="18" charset="0"/>
                <a:ea typeface="MS Mincho" panose="02020609040205080304" pitchFamily="49" charset="-128"/>
                <a:cs typeface="Times New Roman" panose="02020603050405020304" pitchFamily="18" charset="0"/>
              </a:rPr>
              <a:t>ITLingo</a:t>
            </a:r>
            <a:endParaRPr lang="pt-PT" sz="1600" dirty="0">
              <a:effectLst/>
              <a:latin typeface="Times New Roman" panose="02020603050405020304" pitchFamily="18" charset="0"/>
              <a:ea typeface="MS Mincho" panose="02020609040205080304" pitchFamily="49" charset="-128"/>
              <a:cs typeface="Times New Roman" panose="02020603050405020304" pitchFamily="18" charset="0"/>
            </a:endParaRPr>
          </a:p>
          <a:p>
            <a:endParaRPr lang="pt-PT" sz="1600" dirty="0">
              <a:latin typeface="Times New Roman" panose="02020603050405020304" pitchFamily="18" charset="0"/>
              <a:cs typeface="Times New Roman" panose="02020603050405020304" pitchFamily="18" charset="0"/>
            </a:endParaRPr>
          </a:p>
          <a:p>
            <a:r>
              <a:rPr lang="en-US" sz="1600" b="1" dirty="0">
                <a:effectLst/>
                <a:latin typeface="Times New Roman" panose="02020603050405020304" pitchFamily="18" charset="0"/>
                <a:ea typeface="MS Mincho" panose="02020609040205080304" pitchFamily="49" charset="-128"/>
                <a:cs typeface="Times New Roman" panose="02020603050405020304" pitchFamily="18" charset="0"/>
              </a:rPr>
              <a:t>[40]</a:t>
            </a:r>
            <a:r>
              <a:rPr lang="en-US" sz="1600" dirty="0">
                <a:effectLst/>
                <a:latin typeface="Times New Roman" panose="02020603050405020304" pitchFamily="18" charset="0"/>
                <a:ea typeface="MS Mincho" panose="02020609040205080304" pitchFamily="49" charset="-128"/>
                <a:cs typeface="Times New Roman" panose="02020603050405020304" pitchFamily="18" charset="0"/>
              </a:rPr>
              <a:t> ISO IEC (25010:2011): Systems and software engineering – systems and software quality requirements and evaluation (</a:t>
            </a:r>
            <a:r>
              <a:rPr lang="en-US" sz="1600" dirty="0" err="1">
                <a:effectLst/>
                <a:latin typeface="Times New Roman" panose="02020603050405020304" pitchFamily="18" charset="0"/>
                <a:ea typeface="MS Mincho" panose="02020609040205080304" pitchFamily="49" charset="-128"/>
                <a:cs typeface="Times New Roman" panose="02020603050405020304" pitchFamily="18" charset="0"/>
              </a:rPr>
              <a:t>SQuaRE</a:t>
            </a:r>
            <a:r>
              <a:rPr lang="en-US" sz="1600" dirty="0">
                <a:effectLst/>
                <a:latin typeface="Times New Roman" panose="02020603050405020304" pitchFamily="18" charset="0"/>
                <a:ea typeface="MS Mincho" panose="02020609040205080304" pitchFamily="49" charset="-128"/>
                <a:cs typeface="Times New Roman" panose="02020603050405020304" pitchFamily="18" charset="0"/>
              </a:rPr>
              <a:t>)</a:t>
            </a:r>
            <a:endParaRPr lang="pt-PT" sz="1600" dirty="0">
              <a:latin typeface="Times New Roman" panose="02020603050405020304" pitchFamily="18" charset="0"/>
              <a:cs typeface="Times New Roman" panose="02020603050405020304" pitchFamily="18" charset="0"/>
            </a:endParaRPr>
          </a:p>
          <a:p>
            <a:r>
              <a:rPr lang="pt-PT" sz="1600" b="1" dirty="0">
                <a:latin typeface="Times New Roman" panose="02020603050405020304" pitchFamily="18" charset="0"/>
                <a:cs typeface="Times New Roman" panose="02020603050405020304" pitchFamily="18" charset="0"/>
              </a:rPr>
              <a:t>[54]</a:t>
            </a:r>
            <a:r>
              <a:rPr lang="pt-PT" sz="1600" dirty="0">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ea typeface="MS Mincho" panose="02020609040205080304" pitchFamily="49" charset="-128"/>
                <a:cs typeface="Times New Roman" panose="02020603050405020304" pitchFamily="18" charset="0"/>
              </a:rPr>
              <a:t>M. Bishop, “Vulnerabilities Analysis”, International symposium on recent advices in intrusion detection, 1999.</a:t>
            </a:r>
          </a:p>
          <a:p>
            <a:endParaRPr lang="pt-PT" sz="1600" dirty="0">
              <a:latin typeface="Times New Roman" panose="02020603050405020304" pitchFamily="18" charset="0"/>
              <a:cs typeface="Times New Roman" panose="02020603050405020304" pitchFamily="18" charset="0"/>
            </a:endParaRPr>
          </a:p>
          <a:p>
            <a:r>
              <a:rPr lang="pt-PT" sz="1600" b="1" dirty="0">
                <a:latin typeface="Times New Roman" panose="02020603050405020304" pitchFamily="18" charset="0"/>
                <a:cs typeface="Times New Roman" panose="02020603050405020304" pitchFamily="18" charset="0"/>
              </a:rPr>
              <a:t>[65]</a:t>
            </a:r>
            <a:r>
              <a:rPr lang="pt-PT" sz="1600" dirty="0">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ea typeface="MS Mincho" panose="02020609040205080304" pitchFamily="49" charset="-128"/>
                <a:cs typeface="Times New Roman" panose="02020603050405020304" pitchFamily="18" charset="0"/>
              </a:rPr>
              <a:t>R. Ahmad, A. Hussain, and F. </a:t>
            </a:r>
            <a:r>
              <a:rPr lang="en-US" sz="1600" dirty="0" err="1">
                <a:effectLst/>
                <a:latin typeface="Times New Roman" panose="02020603050405020304" pitchFamily="18" charset="0"/>
                <a:ea typeface="MS Mincho" panose="02020609040205080304" pitchFamily="49" charset="-128"/>
                <a:cs typeface="Times New Roman" panose="02020603050405020304" pitchFamily="18" charset="0"/>
              </a:rPr>
              <a:t>Baharom</a:t>
            </a:r>
            <a:r>
              <a:rPr lang="en-US" sz="1600" dirty="0">
                <a:effectLst/>
                <a:latin typeface="Times New Roman" panose="02020603050405020304" pitchFamily="18" charset="0"/>
                <a:ea typeface="MS Mincho" panose="02020609040205080304" pitchFamily="49" charset="-128"/>
                <a:cs typeface="Times New Roman" panose="02020603050405020304" pitchFamily="18" charset="0"/>
              </a:rPr>
              <a:t>, “Software Sustainability Characteristic for Software Development towards Long Living Software”, WSEAS TRANSACTIONS on BUSINESS and ECONOMICS, vol. 15, 2018.</a:t>
            </a:r>
            <a:r>
              <a:rPr lang="pt-PT" sz="1600" dirty="0">
                <a:latin typeface="Times New Roman" panose="02020603050405020304" pitchFamily="18" charset="0"/>
                <a:cs typeface="Times New Roman" panose="02020603050405020304" pitchFamily="18" charset="0"/>
              </a:rPr>
              <a:t> </a:t>
            </a:r>
          </a:p>
          <a:p>
            <a:r>
              <a:rPr lang="en-US" sz="1400" dirty="0"/>
              <a:t> </a:t>
            </a:r>
            <a:endParaRPr lang="pt-PT" sz="1400" dirty="0">
              <a:cs typeface="Times New Roman" panose="02020603050405020304" pitchFamily="18" charset="0"/>
            </a:endParaRPr>
          </a:p>
        </p:txBody>
      </p:sp>
    </p:spTree>
    <p:extLst>
      <p:ext uri="{BB962C8B-B14F-4D97-AF65-F5344CB8AC3E}">
        <p14:creationId xmlns:p14="http://schemas.microsoft.com/office/powerpoint/2010/main" val="3534916393"/>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549</TotalTime>
  <Words>1820</Words>
  <Application>Microsoft Office PowerPoint</Application>
  <PresentationFormat>Ecrã Panorâmico</PresentationFormat>
  <Paragraphs>258</Paragraphs>
  <Slides>18</Slides>
  <Notes>0</Notes>
  <HiddenSlides>0</HiddenSlides>
  <MMClips>0</MMClips>
  <ScaleCrop>false</ScaleCrop>
  <HeadingPairs>
    <vt:vector size="6" baseType="variant">
      <vt:variant>
        <vt:lpstr>Tipos de letra usados</vt:lpstr>
      </vt:variant>
      <vt:variant>
        <vt:i4>5</vt:i4>
      </vt:variant>
      <vt:variant>
        <vt:lpstr>Tema</vt:lpstr>
      </vt:variant>
      <vt:variant>
        <vt:i4>1</vt:i4>
      </vt:variant>
      <vt:variant>
        <vt:lpstr>Títulos dos diapositivos</vt:lpstr>
      </vt:variant>
      <vt:variant>
        <vt:i4>18</vt:i4>
      </vt:variant>
    </vt:vector>
  </HeadingPairs>
  <TitlesOfParts>
    <vt:vector size="24" baseType="lpstr">
      <vt:lpstr>Arial</vt:lpstr>
      <vt:lpstr>Calibri</vt:lpstr>
      <vt:lpstr>Calibri Light</vt:lpstr>
      <vt:lpstr>Symbol</vt:lpstr>
      <vt:lpstr>Times New Roman</vt:lpstr>
      <vt:lpstr>Tema do Office</vt:lpstr>
      <vt:lpstr>Discussion Towards a Library of Software Sustainability Requirements</vt:lpstr>
      <vt:lpstr>Introduction</vt:lpstr>
      <vt:lpstr>Software Sustainability</vt:lpstr>
      <vt:lpstr>Software Sustainability</vt:lpstr>
      <vt:lpstr>Objectives</vt:lpstr>
      <vt:lpstr>Vulnerabilities and Goals</vt:lpstr>
      <vt:lpstr>Vulnerabilities: software design principles</vt:lpstr>
      <vt:lpstr>Vulnerabilities: coding principles</vt:lpstr>
      <vt:lpstr>Vulnerabilities: user experience</vt:lpstr>
      <vt:lpstr>Vulnerabilities: operational support</vt:lpstr>
      <vt:lpstr>Technical Software Goals</vt:lpstr>
      <vt:lpstr>Non-technical Software Goals</vt:lpstr>
      <vt:lpstr>Relations: Vulnerabilities vs Goals</vt:lpstr>
      <vt:lpstr>Software Change Management (SCM) process for flexibility and easy adaptation</vt:lpstr>
      <vt:lpstr>Main contributions</vt:lpstr>
      <vt:lpstr>Future Work</vt:lpstr>
      <vt:lpstr>Summing up…</vt:lpstr>
      <vt:lpstr>Some 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Rui Carvalho</dc:creator>
  <cp:lastModifiedBy>Rui Carvalho</cp:lastModifiedBy>
  <cp:revision>92</cp:revision>
  <dcterms:created xsi:type="dcterms:W3CDTF">2020-07-03T09:38:04Z</dcterms:created>
  <dcterms:modified xsi:type="dcterms:W3CDTF">2020-08-31T18:28:51Z</dcterms:modified>
</cp:coreProperties>
</file>